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2.jp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3.jpg"/><Relationship Id="rId8" Type="http://schemas.microsoft.com/office/2007/relationships/media" Target="../media/media5.mp4"/><Relationship Id="rId9" Type="http://schemas.openxmlformats.org/officeDocument/2006/relationships/video" Target="../media/media5.mp4"/><Relationship Id="rId10" Type="http://schemas.openxmlformats.org/officeDocument/2006/relationships/image" Target="../media/image4.jpg"/><Relationship Id="rId11" Type="http://schemas.microsoft.com/office/2007/relationships/media" Target="../media/media6.mp4"/><Relationship Id="rId12" Type="http://schemas.openxmlformats.org/officeDocument/2006/relationships/video" Target="../media/media6.mp4"/><Relationship Id="rId13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 b="1" i="0">
                <a:solidFill>
                  <a:srgbClr val="1F5FD0"/>
                </a:solidFill>
              </a:rPr>
              <a:t>FORGE-VLA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151820"/>
                </a:solidFill>
              </a:rPr>
              <a:t>Fine-tuning Optimized Recipe for Generalized Embodiment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99232"/>
            <a:ext cx="10698480" cy="508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45536"/>
            <a:ext cx="10515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51820"/>
                </a:solidFill>
              </a:rPr>
              <a:t>How cheap are lighting-robust small VLAs?  An in-augmentation vs held-out study.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39"/>
            <a:ext cx="3566160" cy="4572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Base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SmolVLA-500M · frozen backbone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977639"/>
            <a:ext cx="3566160" cy="4572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526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LIBERO-Long · 10 tasks · 300 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3977639"/>
            <a:ext cx="3566160" cy="4572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526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In-aug/held-out split  P0/P3/P6/P13–P17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ISLab · CWNU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FORGE-VLA — Five Training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Stacked improvements on SmolVLA; each independently toggleable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64208"/>
            <a:ext cx="594360" cy="59436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572768"/>
            <a:ext cx="10515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5FD0"/>
                </a:solidFill>
              </a:rPr>
              <a:t>EMA of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9659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Decay 0.9999 · warmup 2000 steps  —  smooths variance from stochastic SGD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33472"/>
            <a:ext cx="594360" cy="594360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542032"/>
            <a:ext cx="10515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E9E8F"/>
                </a:solidFill>
              </a:rPr>
              <a:t>Chunk Retune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935224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chunk_size=10, n_action_steps=5  (baseline: 50/50)  —  re-query every 5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602736"/>
            <a:ext cx="594360" cy="59436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511296"/>
            <a:ext cx="10515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8A00"/>
                </a:solidFill>
              </a:rPr>
              <a:t>Percentile Normalisation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0448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Clip action stats at p1/p99 before min-max  —  removes outlier distortion in action targets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72000"/>
            <a:ext cx="594360" cy="5943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480560"/>
            <a:ext cx="10515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CC3333"/>
                </a:solidFill>
              </a:rPr>
              <a:t>Aggressive Augmentation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87375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Tier-1 photometric + Tier-2 lighting (dark/warm/cool/colored LED), prob=0.3, spatial aug 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541264"/>
            <a:ext cx="594360" cy="594360"/>
          </a:xfrm>
          <a:prstGeom prst="rect">
            <a:avLst/>
          </a:prstGeom>
          <a:solidFill>
            <a:srgbClr val="7A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5449824"/>
            <a:ext cx="10515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7A3FB5"/>
                </a:solidFill>
              </a:rPr>
              <a:t>Temporal Ensembling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843016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</a:rPr>
              <a:t>Exp-weighted blend of overlapping chunks, coeff=0.01 (inference only) — near-inert at these settings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FORGE-VLA — Robustness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LIBERO-Long · 300 eps/cell · seed 42  |  P3 = dark (in-aug)  ·  P6 = disco (held-out)  ·  P13 = distractor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3657600" cy="3657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baseline (50-step open-loop)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572768"/>
            <a:ext cx="3657600" cy="36576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baseline_chunk (fair)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0" y="1572768"/>
            <a:ext cx="3657600" cy="365760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forge_full (all 5 levers)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66543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P0  nominal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121407"/>
            <a:ext cx="1056132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01084" y="2066543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</a:rPr>
              <a:t>42%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21407"/>
            <a:ext cx="1415719" cy="310896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3911" y="2066543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F5FD0"/>
                </a:solidFill>
              </a:rPr>
              <a:t>56%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2121407"/>
            <a:ext cx="1634490" cy="310896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05922" y="2066543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B884A"/>
                </a:solidFill>
              </a:rPr>
              <a:t>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70047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P3  dark  (in-aug)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724911"/>
            <a:ext cx="1005840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50792" y="267004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</a:rPr>
              <a:t>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724911"/>
            <a:ext cx="797128" cy="310896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5320" y="267004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F5FD0"/>
                </a:solidFill>
              </a:rPr>
              <a:t>32%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724911"/>
            <a:ext cx="1717471" cy="310896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8903" y="267004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B884A"/>
                </a:solidFill>
              </a:rPr>
              <a:t>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273551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P6  disco  (held-out)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3328415"/>
            <a:ext cx="1056132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01084" y="3273551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</a:rPr>
              <a:t>42%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328415"/>
            <a:ext cx="1383030" cy="310896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1222" y="3273551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F5FD0"/>
                </a:solidFill>
              </a:rPr>
              <a:t>55%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3328415"/>
            <a:ext cx="1835657" cy="310896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07089" y="3273551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B884A"/>
                </a:solidFill>
              </a:rPr>
              <a:t>73%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77055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P13 distractor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3931919"/>
            <a:ext cx="402336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47288" y="3877055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</a:rPr>
              <a:t>16%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931919"/>
            <a:ext cx="168478" cy="310896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6670" y="3877055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F5FD0"/>
                </a:solidFill>
              </a:rPr>
              <a:t>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98280" y="3931919"/>
            <a:ext cx="1181862" cy="310896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3294" y="3877055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B884A"/>
                </a:solidFill>
              </a:rPr>
              <a:t>47%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48055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P14 noise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4535423"/>
            <a:ext cx="804672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9624" y="4480559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</a:rPr>
              <a:t>32%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535423"/>
            <a:ext cx="771982" cy="310896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80174" y="4480559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F5FD0"/>
                </a:solidFill>
              </a:rPr>
              <a:t>31%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4535423"/>
            <a:ext cx="1576654" cy="310896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48086" y="4480559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B884A"/>
                </a:solidFill>
              </a:rPr>
              <a:t>63%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5084063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P15 blur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71800" y="5138927"/>
            <a:ext cx="653796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98748" y="5084063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</a:rPr>
              <a:t>26%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084063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6B7280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5138927"/>
            <a:ext cx="1591741" cy="310896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63173" y="5084063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B884A"/>
                </a:solidFill>
              </a:rPr>
              <a:t>63%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687567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P17 compound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71800" y="5742431"/>
            <a:ext cx="301751" cy="31089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6703" y="568756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6B7280"/>
                </a:solidFill>
              </a:rPr>
              <a:t>12%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5742431"/>
            <a:ext cx="201168" cy="310896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568756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F5FD0"/>
                </a:solidFill>
              </a:rPr>
              <a:t>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5742431"/>
            <a:ext cx="1307592" cy="310896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79024" y="5687567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B884A"/>
                </a:solidFill>
              </a:rPr>
              <a:t>52%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355080"/>
            <a:ext cx="11430000" cy="254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6437376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E68A00"/>
                </a:solidFill>
              </a:rPr>
              <a:t>★  forge_full vs baseline_chunk: +23 pp on P13 distractor · held-out P6: 73% vs 55%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The Planned Front-End Adapter — And Why It Was Flawed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A residual image→image module upstream of SmolVLA's frozen vision encoder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5486400" cy="4434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F5FD0"/>
                </a:solidFill>
              </a:rPr>
              <a:t>What We Planned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9696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• Residual adapter before the vision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42616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• Feature-invariance loss: pull f(perturbed) onto f(clean)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45536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• Identity-init: zero-conv start → exact passthrough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48456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• ~0.1–1M params · post-hoc · no VLA weight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• One frozen module across backbones — no retraining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72768"/>
            <a:ext cx="5486400" cy="44348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3035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CC3333"/>
                </a:solidFill>
              </a:rPr>
              <a:t>Why It Was Flawed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39696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C3333"/>
                </a:solidFill>
              </a:rPr>
              <a:t>✗  CRT front-end HURTS SmolVLA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87168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Pixel-restoration (CRT, RSS 2024): 43% → 33%
SmolVLA too small to absorb the distribution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91256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C3333"/>
                </a:solidFill>
              </a:rPr>
              <a:t>✗  Lighting barely bites at 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38728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baseline P3 ≈ P0 (40 vs 42%).  P6 ≈ P0 (42 vs 42%)
Visual perturbations are not the failure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42816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CC3333"/>
                </a:solidFill>
              </a:rPr>
              <a:t>✗  Action chunk is the real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90288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Flow-matching sampler injects jitter into all 50 steps
Chunk boundary discontinuities → task failures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126480"/>
            <a:ext cx="11430000" cy="3810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199632"/>
            <a:ext cx="1179576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E68A00"/>
                </a:solidFill>
              </a:rPr>
              <a:t>↓  The problem is not in the image pipeline.  It is in the predicted action chunk.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From Robustness Recipes to Spectral Action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A pivot motivated by the actual failure mode of SmolVLA action chunks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64208"/>
            <a:ext cx="237744" cy="237744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920240"/>
            <a:ext cx="36576" cy="1143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36192"/>
            <a:ext cx="10972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5FD0"/>
                </a:solidFill>
              </a:rPr>
              <a:t>FORGE-VLA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29384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5-lever training recipe. forge_full: 65% clean, 73% held-out disco.
Key insight: lighting robustness is easy. Action horizon and chunk quality matter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17520"/>
            <a:ext cx="237744" cy="237744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7" y="3273552"/>
            <a:ext cx="36576" cy="1143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889504"/>
            <a:ext cx="10972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8A00"/>
                </a:solidFill>
              </a:rPr>
              <a:t>Adapter Plan (abandoned)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82696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Residual front-end to canonicalise perturbed images.
CRT shows pixel-restoration REGRESSES SmolVLA (43 → 33%). Wrong locus.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370832"/>
            <a:ext cx="237744" cy="237744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4626864"/>
            <a:ext cx="36576" cy="1143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242816"/>
            <a:ext cx="10972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E9E8F"/>
                </a:solidFill>
              </a:rPr>
              <a:t>Root Cause Identified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36008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SmolVLA predicts a 50-step action chunk and executes it open-loop.
Flow-matching sampler injects high-frequency jitter across all bands. Cross-chunk discontinuities → task failure.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724144"/>
            <a:ext cx="237744" cy="237744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596128"/>
            <a:ext cx="10972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B884A"/>
                </a:solidFill>
              </a:rPr>
              <a:t>New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989320"/>
            <a:ext cx="109728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Apply spectral decomposition to the predicted chunk.
Suppress high-frequency bands with principled, calibrated per-band gain. Trained post-hoc on frozen model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Architecture — Spectral Action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Post-hoc module on a frozen SmolVLA.  Zero changes to the base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755648"/>
            <a:ext cx="1737360" cy="118872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Frozen
SmolVLA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4248" y="2276856"/>
            <a:ext cx="182880" cy="14630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1755648"/>
            <a:ext cx="1737360" cy="11887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Action Chunk
A ∈ ℝ^{T×D}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0208" y="2276856"/>
            <a:ext cx="182880" cy="14630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1755648"/>
            <a:ext cx="1737360" cy="1188720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DCT-II
(per joint,
time axis)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16168" y="2276856"/>
            <a:ext cx="182880" cy="14630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755648"/>
            <a:ext cx="1737360" cy="118872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Per-band
Wiener Gain
g_k = λ/(λ+σ²)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8" y="2276856"/>
            <a:ext cx="182880" cy="14630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755648"/>
            <a:ext cx="1737360" cy="11887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Inverse DCT
Â ∈ ℝ^{T×D}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48088" y="2276856"/>
            <a:ext cx="182880" cy="14630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0" y="1755648"/>
            <a:ext cx="1737360" cy="1188720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Execute
n_action_steps
= 25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017520"/>
            <a:ext cx="3977639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T=50 bands/joint · D=7 joints → 350 spectral coefficients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1752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E68A00"/>
                </a:solidFill>
              </a:rPr>
              <a:t>350 learned σ_k²  ·  EMA λ_k from policy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05072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E68A00"/>
                </a:solidFill>
              </a:rPr>
              <a:t>Training Loss:   L = MSE( Â ,  A★ )  +  β · Σ_k R_k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9943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6B7280"/>
                </a:solidFill>
              </a:rPr>
              <a:t>A★ = ground-truth action chunk from training data  (denoiser, not compressor)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20640"/>
            <a:ext cx="23408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E9E8F"/>
                </a:solidFill>
              </a:rPr>
              <a:t>✓ Base VLA fully frozen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120640"/>
            <a:ext cx="23408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E9E8F"/>
                </a:solidFill>
              </a:rPr>
              <a:t>✓ 350 scalars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120640"/>
            <a:ext cx="23408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E9E8F"/>
                </a:solidFill>
              </a:rPr>
              <a:t>✓ Identity at init  (g_k≈1)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5120640"/>
            <a:ext cx="23408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E9E8F"/>
                </a:solidFill>
              </a:rPr>
              <a:t>✓ Zero inference overhead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5120640"/>
            <a:ext cx="2340864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E9E8F"/>
                </a:solidFill>
              </a:rPr>
              <a:t>✓ Trains on cached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The Math — Spectral Decomposition &amp; Gaussian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Walk-through: SpectralBottleneck.mp4</a:t>
            </a:r>
          </a:p>
        </p:txBody>
      </p:sp>
      <p:pic>
        <p:nvPicPr>
          <p:cNvPr id="5" name="SpectralBottleneck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13816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146304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5FD0"/>
                </a:solidFill>
              </a:rPr>
              <a:t>DCT-II: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83794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C_k = Σ_t a_t·cos[π/T·(t+½)·k]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46888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5FD0"/>
                </a:solidFill>
              </a:rPr>
              <a:t>Signal power: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8437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λ_k = 𝔼[C_k²]  (EMA over batches)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47472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5FD0"/>
                </a:solidFill>
              </a:rPr>
              <a:t>Channel: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8496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Ĉ_k = C_k + ε_k,  ε_k ~ N(0, σ_k²)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48056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5FD0"/>
                </a:solidFill>
              </a:rPr>
              <a:t>Wiener gain: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8554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g_k = λ_k / (λ_k + σ_k²)  ∈ (0, 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5212080"/>
            <a:ext cx="3154680" cy="8961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5257800"/>
            <a:ext cx="306324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Low-freq bands: high λ_k, high SNR → motion
High-freq bands: low λ_k → jitter (g_k ≪ 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The Math — Rate-Distortion &amp; Reverse Water-Filling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Walk-through: SpectralMath.mp4</a:t>
            </a:r>
          </a:p>
        </p:txBody>
      </p:sp>
      <p:pic>
        <p:nvPicPr>
          <p:cNvPr id="5" name="SpectralMat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1325880"/>
            <a:ext cx="813816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146304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68A00"/>
                </a:solidFill>
              </a:rPr>
              <a:t>Rate (band k):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83794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R_k = ½·ln(1 + λ_k/σ_k²)  [nats]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46888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68A00"/>
                </a:solidFill>
              </a:rPr>
              <a:t>Loss: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84378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L = MSE(Â, A★) + β·Σ_k R_k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47472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68A00"/>
                </a:solidFill>
              </a:rPr>
              <a:t>Optimal σ²_k: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384962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σ²_k = β·λ_k / (2λ_k − 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480560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68A00"/>
                </a:solidFill>
              </a:rPr>
              <a:t>Water level: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855464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1820"/>
                </a:solidFill>
              </a:rPr>
              <a:t>θ = β/2 ;  R_k = ½·ln(λ_k/θ)  if λ_k &gt; 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5212080"/>
            <a:ext cx="3154680" cy="8961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5230368"/>
            <a:ext cx="306324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Proved + unit-tested in sib/waterfill.py.
No prior IB work for robot actions
establishes this analytic link.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Results — Component Ablations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LIBERO-Spatial · n_action_steps=25 · 200 episodes · one component removed at a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00200"/>
            <a:ext cx="658368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673352"/>
            <a:ext cx="3648456" cy="4023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3063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Vanilla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4616" y="1600200"/>
            <a:ext cx="731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6B7280"/>
                </a:solidFill>
              </a:rPr>
              <a:t>57%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600200"/>
            <a:ext cx="1965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No filtering.  Raw policy output.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532888"/>
            <a:ext cx="658368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606040"/>
            <a:ext cx="2304288" cy="402336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32888"/>
            <a:ext cx="3063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3333"/>
                </a:solidFill>
              </a:rPr>
              <a:t>raw_vib  (no DCT)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532888"/>
            <a:ext cx="731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CC3333"/>
                </a:solidFill>
              </a:rPr>
              <a:t>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532888"/>
            <a:ext cx="1965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VIB on raw action values — bands not decorrelated, module collapses.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465576"/>
            <a:ext cx="658368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3538728"/>
            <a:ext cx="3392424" cy="40233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465576"/>
            <a:ext cx="3063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E68A00"/>
                </a:solidFill>
              </a:rPr>
              <a:t>gain_no_rate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4" y="3465576"/>
            <a:ext cx="731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E68A00"/>
                </a:solidFill>
              </a:rPr>
              <a:t>53%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465576"/>
            <a:ext cx="1965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Learned gains, no rate penalty — no information constraint.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398264"/>
            <a:ext cx="658368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4471416"/>
            <a:ext cx="3520440" cy="40233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398264"/>
            <a:ext cx="3063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E68A00"/>
                </a:solidFill>
              </a:rPr>
              <a:t>lowpass  (no rate term)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398264"/>
            <a:ext cx="731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E68A00"/>
                </a:solidFill>
              </a:rPr>
              <a:t>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398264"/>
            <a:ext cx="1965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Fixed cutoff filter, no β·R loss — cannot adapt to signal distribution.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5330952"/>
            <a:ext cx="6583680" cy="54864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5404104"/>
            <a:ext cx="3808476" cy="402336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330952"/>
            <a:ext cx="3063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E9E8F"/>
                </a:solidFill>
              </a:rPr>
              <a:t>SIB β=1e-4  (ours)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4636" y="5330952"/>
            <a:ext cx="73152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E9E8F"/>
                </a:solidFill>
              </a:rPr>
              <a:t>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5330952"/>
            <a:ext cx="196596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DCT + per-band channel + Wiener gain + explicit rate β·Σ R_k.  Best result.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6400800"/>
            <a:ext cx="11521440" cy="254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464808"/>
            <a:ext cx="1179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51820"/>
                </a:solidFill>
              </a:rPr>
              <a:t>DCT is load-bearing: −21 pp without it (57% → 36%).  Rate term adds +6.5 pp over gain-only.  Full SIB is the only variant above the vanilla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Results — Efficiency vs. Accuracy: n_action_steps Sweep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How many steps to execute per chunk?  Vanilla vs SIB β=1e-4 · LIBERO-Spatial · 200 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36192"/>
            <a:ext cx="5029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6B7280"/>
                </a:solidFill>
              </a:rPr>
              <a:t>Vanilla (no filtering)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36192"/>
            <a:ext cx="5029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E9E8F"/>
                </a:solidFill>
              </a:rPr>
              <a:t>SIB β=1e-4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84831"/>
            <a:ext cx="2926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51820"/>
                </a:solidFill>
              </a:rPr>
              <a:t>n = 1  (oracle: re-query every step)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13969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2176271"/>
            <a:ext cx="2304288" cy="438912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3288" y="208483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51820"/>
                </a:solidFill>
              </a:rPr>
              <a:t>72%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213969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176271"/>
            <a:ext cx="720090" cy="438912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5250" y="208483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B884A"/>
                </a:solidFill>
              </a:rPr>
              <a:t>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44951"/>
            <a:ext cx="2926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n =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09981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3136391"/>
            <a:ext cx="1936241" cy="43891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5241" y="304495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</a:rPr>
              <a:t>60%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309981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3136391"/>
            <a:ext cx="1920240" cy="438912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304495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0E9E8F"/>
                </a:solidFill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005071"/>
            <a:ext cx="2926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n =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05993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7560" y="4096511"/>
            <a:ext cx="1952243" cy="43891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81243" y="400507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</a:rPr>
              <a:t>61%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405993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03720" y="4096511"/>
            <a:ext cx="1952243" cy="438912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7403" y="400507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0E9E8F"/>
                </a:solidFill>
              </a:rPr>
              <a:t>61%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965191"/>
            <a:ext cx="29260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151820"/>
                </a:solidFill>
              </a:rPr>
              <a:t>n = 25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502005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7560" y="5056631"/>
            <a:ext cx="1824228" cy="438912"/>
          </a:xfrm>
          <a:prstGeom prst="rect">
            <a:avLst/>
          </a:prstGeom>
          <a:solidFill>
            <a:srgbClr val="15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3228" y="496519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51820"/>
                </a:solidFill>
              </a:rPr>
              <a:t>57%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5020055"/>
            <a:ext cx="3200400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5056631"/>
            <a:ext cx="1712214" cy="438912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07374" y="4965191"/>
            <a:ext cx="5943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B884A"/>
                </a:solidFill>
              </a:rPr>
              <a:t>54%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148071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1B884A"/>
                </a:solidFill>
              </a:rPr>
              <a:t>← 25× cheaper than n=1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080760"/>
            <a:ext cx="11521440" cy="254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144768"/>
            <a:ext cx="1179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51820"/>
                </a:solidFill>
              </a:rPr>
              <a:t>At n=25, SIB is within 3.5 pp of oracle vanilla while using 25× fewer queries.  SIB partially recovers the accuracy lost from reduced query frequency.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Results — Best SIB vs Vanilla at Matched Compute (n=25)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Same operating point: n_action_steps=25 · 200 episodes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81328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F5FD0"/>
                </a:solidFill>
              </a:rPr>
              <a:t>LIBERO-Spatial (10 tasks)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029968"/>
            <a:ext cx="7132320" cy="5669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2066544"/>
            <a:ext cx="3961180" cy="4754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75104"/>
            <a:ext cx="3246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Vanilla n=25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0220" y="1975104"/>
            <a:ext cx="777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6B7280"/>
                </a:solidFill>
              </a:rPr>
              <a:t>57%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880360"/>
            <a:ext cx="7132320" cy="5669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916936"/>
            <a:ext cx="3856939" cy="47548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825496"/>
            <a:ext cx="3246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E68A00"/>
                </a:solidFill>
              </a:rPr>
              <a:t>SIB β=3e-4  (conservative)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5979" y="2825496"/>
            <a:ext cx="777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E68A00"/>
                </a:solidFill>
              </a:rPr>
              <a:t>56%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730752"/>
            <a:ext cx="7132320" cy="5669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0" y="3767328"/>
            <a:ext cx="3717950" cy="475488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675888"/>
            <a:ext cx="3246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1F5FD0"/>
                </a:solidFill>
              </a:rPr>
              <a:t>SIB n=25  (strict match)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990" y="3675888"/>
            <a:ext cx="777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F5FD0"/>
                </a:solidFill>
              </a:rPr>
              <a:t>54%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581144"/>
            <a:ext cx="7132320" cy="56692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4617720"/>
            <a:ext cx="4134916" cy="475488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526280"/>
            <a:ext cx="32461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E9E8F"/>
                </a:solidFill>
              </a:rPr>
              <a:t>SIB β=1e-4  (best config)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3956" y="4526280"/>
            <a:ext cx="7772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E9E8F"/>
                </a:solidFill>
              </a:rPr>
              <a:t>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413248"/>
            <a:ext cx="11521440" cy="254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486400"/>
            <a:ext cx="914400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F5FD0"/>
                </a:solidFill>
              </a:rPr>
              <a:t>LIBERO-Long (10 tasks — harder, longer-horizon)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6044184"/>
            <a:ext cx="530352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6080760"/>
            <a:ext cx="2099462" cy="4023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989320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</a:rPr>
              <a:t>Vanilla Long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8502" y="5989320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6B7280"/>
                </a:solidFill>
              </a:rPr>
              <a:t>41%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6647688"/>
            <a:ext cx="530352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6684264"/>
            <a:ext cx="1997049" cy="402336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92824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0E9E8F"/>
                </a:solidFill>
              </a:rPr>
              <a:t>SIB Long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6089" y="6592824"/>
            <a:ext cx="731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0E9E8F"/>
                </a:solidFill>
              </a:rPr>
              <a:t>39%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Demo — SIB Simulation Roll-outs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LIBERO-Spatial · SIB β=1e-4 · clean condition · 4 representative tasks</a:t>
            </a:r>
          </a:p>
        </p:txBody>
      </p:sp>
      <p:pic>
        <p:nvPicPr>
          <p:cNvPr id="5" name="ep0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389888"/>
            <a:ext cx="5760720" cy="248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3904488"/>
            <a:ext cx="5760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Task 1 — libero_spatial_1  (SIB β=1e-4 · clean)</a:t>
            </a:r>
          </a:p>
        </p:txBody>
      </p:sp>
      <p:pic>
        <p:nvPicPr>
          <p:cNvPr id="7" name="ep00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63640" y="1389888"/>
            <a:ext cx="5760720" cy="2487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3904488"/>
            <a:ext cx="5760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Task 3 — libero_spatial_3  (SIB β=1e-4 · clean)</a:t>
            </a:r>
          </a:p>
        </p:txBody>
      </p:sp>
      <p:pic>
        <p:nvPicPr>
          <p:cNvPr id="9" name="ep000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20040" y="4114800"/>
            <a:ext cx="5760720" cy="2487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6629400"/>
            <a:ext cx="5760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Task 7 — libero_spatial_7  (SIB β=1e-4 · clean)</a:t>
            </a:r>
          </a:p>
        </p:txBody>
      </p:sp>
      <p:pic>
        <p:nvPicPr>
          <p:cNvPr id="11" name="ep000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263640" y="4114800"/>
            <a:ext cx="5760720" cy="2487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6629400"/>
            <a:ext cx="5760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Task 9 — libero_spatial_9  (SIB β=1e-4 · clean)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1795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</a:rPr>
              <a:t>All clips: ep000 · clean condition · SIB β=1e-4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How We Differ from Prior Information-Bottleneck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Feature-level comparison — all 4 papers apply IB/VIB in some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53312"/>
            <a:ext cx="2057400" cy="480608"/>
          </a:xfrm>
          <a:prstGeom prst="rect">
            <a:avLst/>
          </a:prstGeom>
          <a:solidFill>
            <a:srgbClr val="1F5F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0" y="1353312"/>
            <a:ext cx="2194560" cy="480608"/>
          </a:xfrm>
          <a:prstGeom prst="rect">
            <a:avLst/>
          </a:prstGeom>
          <a:solidFill>
            <a:srgbClr val="1F5F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StableVLA
(Hiranaka 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53312"/>
            <a:ext cx="2194560" cy="480608"/>
          </a:xfrm>
          <a:prstGeom prst="rect">
            <a:avLst/>
          </a:prstGeom>
          <a:solidFill>
            <a:srgbClr val="1F5F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IBAC-SNI
(Igl 2019)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0840" y="1353312"/>
            <a:ext cx="2194560" cy="480608"/>
          </a:xfrm>
          <a:prstGeom prst="rect">
            <a:avLst/>
          </a:prstGeom>
          <a:solidFill>
            <a:srgbClr val="1F5F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VDB
(Peng 2019)</a:t>
            </a:r>
          </a:p>
        </p:txBody>
      </p:sp>
      <p:sp>
        <p:nvSpPr>
          <p:cNvPr id="9" name="Rectangle 8"/>
          <p:cNvSpPr/>
          <p:nvPr/>
        </p:nvSpPr>
        <p:spPr>
          <a:xfrm>
            <a:off x="8915400" y="1353312"/>
            <a:ext cx="2194560" cy="480608"/>
          </a:xfrm>
          <a:prstGeom prst="rect">
            <a:avLst/>
          </a:prstGeom>
          <a:solidFill>
            <a:srgbClr val="0E9E8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Ours (SIB)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33920"/>
            <a:ext cx="2057400" cy="667512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5FD0"/>
                </a:solidFill>
              </a:rPr>
              <a:t>Locus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833920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Visual tokens
→ LLM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833920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State encoding
(RL input)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833920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Discriminator
features (IL)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833920"/>
            <a:ext cx="2194560" cy="667512"/>
          </a:xfrm>
          <a:prstGeom prst="rect">
            <a:avLst/>
          </a:prstGeom>
          <a:solidFill>
            <a:srgbClr val="E6F7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E9E8F"/>
                </a:solidFill>
              </a:rPr>
              <a:t>Action chunk
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01432"/>
            <a:ext cx="2057400" cy="667512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5FD0"/>
                </a:solidFill>
              </a:rPr>
              <a:t>Spectral basis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501432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501432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None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501432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501432"/>
            <a:ext cx="2194560" cy="667512"/>
          </a:xfrm>
          <a:prstGeom prst="rect">
            <a:avLst/>
          </a:prstGeom>
          <a:solidFill>
            <a:srgbClr val="E6F7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E9E8F"/>
                </a:solidFill>
              </a:rPr>
              <a:t>DCT-II
(time axis)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68944"/>
            <a:ext cx="2057400" cy="667512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5FD0"/>
                </a:solidFill>
              </a:rPr>
              <a:t>Channel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3168944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Channel-cov
sigmoid gating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3168944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KL to Gaussian
prior (VIB)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3168944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KL to Gaussian
prior (VIB)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3168944"/>
            <a:ext cx="2194560" cy="667512"/>
          </a:xfrm>
          <a:prstGeom prst="rect">
            <a:avLst/>
          </a:prstGeom>
          <a:solidFill>
            <a:srgbClr val="E6F7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E9E8F"/>
                </a:solidFill>
              </a:rPr>
              <a:t>Per-band Gaussian
+ λ_k from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36456"/>
            <a:ext cx="2057400" cy="667512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5FD0"/>
                </a:solidFill>
              </a:rPr>
              <a:t>Rate term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3836456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None  (heuristic)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836456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β·KL(q||p)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3836456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β·KL(q||p)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3836456"/>
            <a:ext cx="2194560" cy="667512"/>
          </a:xfrm>
          <a:prstGeom prst="rect">
            <a:avLst/>
          </a:prstGeom>
          <a:solidFill>
            <a:srgbClr val="E6F7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E9E8F"/>
                </a:solidFill>
              </a:rPr>
              <a:t>β·Σ R_k
= β·Σ½ln(1+λ/σ²)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03968"/>
            <a:ext cx="2057400" cy="667512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5FD0"/>
                </a:solidFill>
              </a:rPr>
              <a:t>Inference decode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503968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Sigmoid passthrough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4503968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Stochastic z~q(z|x)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4503968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Stochastic z~q(z|x)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4503968"/>
            <a:ext cx="2194560" cy="667512"/>
          </a:xfrm>
          <a:prstGeom prst="rect">
            <a:avLst/>
          </a:prstGeom>
          <a:solidFill>
            <a:srgbClr val="E6F7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E9E8F"/>
                </a:solidFill>
              </a:rPr>
              <a:t>MMSE Wiener
(closed-form)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71480"/>
            <a:ext cx="2057400" cy="667512"/>
          </a:xfrm>
          <a:prstGeom prst="rect">
            <a:avLst/>
          </a:prstGeom>
          <a:solidFill>
            <a:srgbClr val="EEF2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F5FD0"/>
                </a:solidFill>
              </a:rPr>
              <a:t>Post-hoc frozen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31720" y="5171480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No — full
VLA finetune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5171480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No — end-to-end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5171480"/>
            <a:ext cx="219456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51820"/>
                </a:solidFill>
              </a:rPr>
              <a:t>No — inside IL
training loop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400" y="5171480"/>
            <a:ext cx="2194560" cy="667512"/>
          </a:xfrm>
          <a:prstGeom prst="rect">
            <a:avLst/>
          </a:prstGeom>
          <a:solidFill>
            <a:srgbClr val="E6F7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E9E8F"/>
                </a:solidFill>
              </a:rPr>
              <a:t>Yes — cached
outputs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Novelty &amp;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What is genuinely new — not the backbone, not VIB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81328"/>
            <a:ext cx="475488" cy="475488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11064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F5FD0"/>
                </a:solidFill>
              </a:rPr>
              <a:t>DCT on VLA action chunks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11064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51820"/>
                </a:solidFill>
              </a:rPr>
              <a:t>Spectral decomposition of the temporal axis of robot action chunks is new. Energy compaction means low bands carry motion; high bands carry jitter. The spectral basis makes per-band treatment physically meaningful.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2450592"/>
            <a:ext cx="475488" cy="475488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50592"/>
            <a:ext cx="11064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E9E8F"/>
                </a:solidFill>
              </a:rPr>
              <a:t>Per-band signal power estimation (λ_k)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43784"/>
            <a:ext cx="11064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51820"/>
                </a:solidFill>
              </a:rPr>
              <a:t>EMA over the policy's own predicted DCT coefficients — dataset-level, always detached. Calibrates each band's Wiener gain to the actual signal distribution, not a fixed prior.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3419856"/>
            <a:ext cx="475488" cy="475488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19856"/>
            <a:ext cx="11064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B884A"/>
                </a:solidFill>
              </a:rPr>
              <a:t>MMSE Wiener gain as the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13048"/>
            <a:ext cx="11064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51820"/>
                </a:solidFill>
              </a:rPr>
              <a:t>g_k = λ_k/(λ_k + σ_k²).  Closed-form, provably optimal under Gaussian channel model. Deterministic at inference — no sampling. 350 multiplications per chunk, negligible overhead.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4389120"/>
            <a:ext cx="475488" cy="475488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89120"/>
            <a:ext cx="11064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E68A00"/>
                </a:solidFill>
              </a:rPr>
              <a:t>Rate-distortion / reverse water-filling applied to robot action sequences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82312"/>
            <a:ext cx="11064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51820"/>
                </a:solidFill>
              </a:rPr>
              <a:t>Training loss β·Σ R_k forces per-band bit allocation. Optimal allocation is reverse water-filling — proved and unit-tested. No prior IB work for robot actions establishes this analytic connection.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5358384"/>
            <a:ext cx="475488" cy="475488"/>
          </a:xfrm>
          <a:prstGeom prst="rect">
            <a:avLst/>
          </a:prstGeom>
          <a:solidFill>
            <a:srgbClr val="7A3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58384"/>
            <a:ext cx="11064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7A3FB5"/>
                </a:solidFill>
              </a:rPr>
              <a:t>Post-hoc on a frozen VLA — identity at init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751576"/>
            <a:ext cx="1106424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151820"/>
                </a:solidFill>
              </a:rPr>
              <a:t>Trains on cached policy outputs. Base model never updated. σ_k² starts small → g_k≈1 at epoch 0 → exact passthrough before learning. Zero forgetting. Composes with any FT.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151820"/>
                </a:solidFill>
              </a:rPr>
              <a:t>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2377440" cy="63500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</a:rPr>
              <a:t>Near-term experiments and longer-horizon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536192"/>
            <a:ext cx="256032" cy="329184"/>
          </a:xfrm>
          <a:prstGeom prst="rect">
            <a:avLst/>
          </a:prstGeom>
          <a:solidFill>
            <a:srgbClr val="1F5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13385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F5FD0"/>
                </a:solidFill>
              </a:rPr>
              <a:t>Leg 3 — Robustness Sweep  (in progress)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9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Vanilla vs SIB under action noise σ ∈ {0.05, 0.1, 0.2} on LIBERO-Long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Visual perturbations: brightness/contrast, Gaussian blur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Goal: quantify SR retention of spectral filtering under noisy actuation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227832"/>
            <a:ext cx="256032" cy="329184"/>
          </a:xfrm>
          <a:prstGeom prst="rect">
            <a:avLst/>
          </a:prstGeom>
          <a:solidFill>
            <a:srgbClr val="0E9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27832"/>
            <a:ext cx="113385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E9E8F"/>
                </a:solidFill>
              </a:rPr>
              <a:t>Perception-Locus Leg  (Week 2 candidate)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2102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Apply DCT + Wiener gain to visual token features, not just action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Direct comparison with StableVLA IB-Adapter at the same LLM interface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5254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Question: does spectral feature filtering outperform sigmoid channel gating?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919472"/>
            <a:ext cx="256032" cy="329184"/>
          </a:xfrm>
          <a:prstGeom prst="rect">
            <a:avLst/>
          </a:prstGeom>
          <a:solidFill>
            <a:srgbClr val="1B8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919472"/>
            <a:ext cx="113385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B884A"/>
                </a:solidFill>
              </a:rPr>
              <a:t>Context-Aware Bandwidth Allocation  (Leg 2 — suspended)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1266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Let σ_k² depend on observation context (language + image features)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7842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Per-task bit allocation rather than fixed global scalars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441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Needs: estimate_lambda with sigma_mode=context → train → eval on Long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6611112"/>
            <a:ext cx="256032" cy="329184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611112"/>
            <a:ext cx="113385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E68A00"/>
                </a:solidFill>
              </a:rPr>
              <a:t>Real-Robot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00430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Post-hoc spectral filter applied to a WidowX/SO-100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37006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Does jitter reduction improve contact-rich tasks on real hardware?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73582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151820"/>
                </a:solidFill>
              </a:rPr>
              <a:t>  •  Pre-register: ≥20 trials/condition/policy before claiming a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