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jpg"/><Relationship Id="rId5" Type="http://schemas.microsoft.com/office/2007/relationships/media" Target="../media/media4.mp4"/><Relationship Id="rId6" Type="http://schemas.openxmlformats.org/officeDocument/2006/relationships/video" Target="../media/media4.mp4"/><Relationship Id="rId7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jpg"/><Relationship Id="rId5" Type="http://schemas.microsoft.com/office/2007/relationships/media" Target="../media/media6.mp4"/><Relationship Id="rId6" Type="http://schemas.openxmlformats.org/officeDocument/2006/relationships/video" Target="../media/media6.mp4"/><Relationship Id="rId7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jpg"/><Relationship Id="rId5" Type="http://schemas.microsoft.com/office/2007/relationships/media" Target="../media/media8.mp4"/><Relationship Id="rId6" Type="http://schemas.openxmlformats.org/officeDocument/2006/relationships/video" Target="../media/media8.mp4"/><Relationship Id="rId7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E8F0FE"/>
                </a:solidFill>
                <a:latin typeface="Calibri"/>
              </a:rPr>
              <a:t>Additive robustness modules for frozen Vision-Language-Action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9E4B"/>
                </a:solidFill>
                <a:latin typeface="Calibri"/>
              </a:rPr>
              <a:t>Provably safe at initialisation — module-off ≡ baseline, exactly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Two architectures · SmolVLA-0.5B  +  ACT-88M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E8F0FE"/>
                </a:solidFill>
                <a:latin typeface="Calibri"/>
              </a:rPr>
              <a:t>LIBERO-Plus robustness  +5.65 (SmolVLA)   ·   +5.1 (ACT)   — all gates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ISLab · Changwon National University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Vision-Language-Action policies are brittle under perturbation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Tiny visual shifts a human ignores collapse a strong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151820"/>
                </a:solidFill>
                <a:latin typeface="Calibri"/>
              </a:rPr>
              <a:t>A frozen VLA can be excellent on clean tasks and still </a:t>
            </a:r>
            <a:r>
              <a:rPr sz="1700" b="1">
                <a:solidFill>
                  <a:srgbClr val="C0392B"/>
                </a:solidFill>
                <a:latin typeface="Calibri"/>
              </a:rPr>
              <a:t>fail catastrophically</a:t>
            </a:r>
            <a:r>
              <a:rPr sz="1700" b="0">
                <a:solidFill>
                  <a:srgbClr val="151820"/>
                </a:solidFill>
                <a:latin typeface="Calibri"/>
              </a:rPr>
              <a:t> under sensor noise, lighting, viewpoint, or motion blur.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4600" b="1">
                <a:solidFill>
                  <a:srgbClr val="C0392B"/>
                </a:solidFill>
                <a:latin typeface="Calibri"/>
              </a:rPr>
              <a:t>4% →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motion blur (SmolVLA)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4600" b="1">
                <a:solidFill>
                  <a:srgbClr val="C0392B"/>
                </a:solidFill>
                <a:latin typeface="Calibri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8444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base at σ=0.30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4600" b="1">
                <a:solidFill>
                  <a:srgbClr val="C0392B"/>
                </a:solidFill>
                <a:latin typeface="Calibri"/>
              </a:rPr>
              <a:t>−25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58444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ACT camera-shift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151820"/>
                </a:solidFill>
                <a:latin typeface="Calibri"/>
              </a:rPr>
              <a:t>Goal: add robustness to an </a:t>
            </a:r>
            <a:r>
              <a:rPr sz="1700" b="1">
                <a:solidFill>
                  <a:srgbClr val="151820"/>
                </a:solidFill>
                <a:latin typeface="Calibri"/>
              </a:rPr>
              <a:t>already-trained, frozen</a:t>
            </a:r>
            <a:r>
              <a:rPr sz="1700" b="0">
                <a:solidFill>
                  <a:srgbClr val="151820"/>
                </a:solidFill>
                <a:latin typeface="Calibri"/>
              </a:rPr>
              <a:t> VLA — without fine-tuning it, and without ever harming its clean performance.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AEGIS = two additive, identity-initialised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Bolt onto a frozen policy; trainable params &lt; 1.5% of the backbone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66160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56616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389888"/>
            <a:ext cx="33101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RIB — perception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828800"/>
            <a:ext cx="327355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Robust Information Bottleneck at the vision→policy connector. Corruption-trained to drop the nuisance subspace. Identity-init residual.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56616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1389888"/>
            <a:ext cx="33101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RASF —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1828800"/>
            <a:ext cx="327355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Residual Adaptive Spectral Filter on the action chunk (DCT). Denoises the trajectory. Identity-init.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566160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56616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389888"/>
            <a:ext cx="33101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TE — temporal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1828800"/>
            <a:ext cx="327355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Temporal Ensembling over overlapping chunks. Receding-horizon consensus.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11064240" cy="1920240"/>
          </a:xfrm>
          <a:prstGeom prst="rect">
            <a:avLst/>
          </a:prstGeom>
          <a:solidFill>
            <a:srgbClr val="E8F0FE"/>
          </a:solidFill>
          <a:ln w="19050">
            <a:solidFill>
              <a:srgbClr val="1F5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1F5FD0"/>
                </a:solidFill>
                <a:latin typeface="Calibri"/>
              </a:rPr>
              <a:t>The key property — provable no-harm: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51820"/>
                </a:solidFill>
                <a:latin typeface="Calibri"/>
              </a:rPr>
              <a:t>Every module is an </a:t>
            </a:r>
            <a:r>
              <a:rPr sz="1600" b="1">
                <a:solidFill>
                  <a:srgbClr val="1B9E4B"/>
                </a:solidFill>
                <a:latin typeface="Calibri"/>
              </a:rPr>
              <a:t>identity residual at initialisation</a:t>
            </a:r>
            <a:r>
              <a:rPr sz="1600" b="0">
                <a:solidFill>
                  <a:srgbClr val="151820"/>
                </a:solidFill>
                <a:latin typeface="Calibri"/>
              </a:rPr>
              <a:t>. At zero strength, AEGIS ≡ baseline </a:t>
            </a:r>
            <a:r>
              <a:rPr sz="1600" b="1">
                <a:solidFill>
                  <a:srgbClr val="1B9E4B"/>
                </a:solidFill>
                <a:latin typeface="Calibri"/>
              </a:rPr>
              <a:t>bit-exactly</a:t>
            </a:r>
            <a:r>
              <a:rPr sz="1600" b="0">
                <a:solidFill>
                  <a:srgbClr val="151820"/>
                </a:solidFill>
                <a:latin typeface="Calibri"/>
              </a:rPr>
              <a:t> (verified max|Δ| = 0).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51820"/>
                </a:solidFill>
                <a:latin typeface="Calibri"/>
              </a:rPr>
              <a:t>So AEGIS can only add robustness — it can never degrade the frozen policy by construction.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Where the modules attach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Frozen backbone in grey; only RIB + RASF 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51820"/>
                </a:solidFill>
                <a:latin typeface="Calibri"/>
              </a:rPr>
              <a:t>  observation ─► vision encoder ─►[ RIB ]─► connector ─► LLM / transformer ─► action head ─►[ RASF ]─► chunk ─►[ TE ]─► action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15182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51820"/>
                </a:solidFill>
                <a:latin typeface="Calibri"/>
              </a:rPr>
              <a:t>• RIB sits at the vision→policy connector (SmolVLA) / encoder_img_feat_input_proj (ACT)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51820"/>
                </a:solidFill>
                <a:latin typeface="Calibri"/>
              </a:rPr>
              <a:t>• RASF sits on the predicted action chunk (DCT spectral filter over the horizon)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51820"/>
                </a:solidFill>
                <a:latin typeface="Calibri"/>
              </a:rPr>
              <a:t>• TE averages overlapping chunk predictions at execution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15182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F2A44"/>
                </a:solidFill>
                <a:latin typeface="Calibri"/>
              </a:rPr>
              <a:t>Trainable: RIB ≈ 1.3–2.3M · RASF ≈ small · backbone 0.5B (SmolVLA) / 88M (ACT) FROZEN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120640"/>
            <a:ext cx="1097280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23036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51820"/>
                </a:solidFill>
                <a:latin typeface="Calibri"/>
              </a:rPr>
              <a:t>Same recipe, two very different backbones — that is the cross-architecture claim.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SMOLVLA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Clean success — no cost to add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3 seeds (42/123/456), non-perturbed LIBERO, reported ungated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274320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7904" y="1554480"/>
            <a:ext cx="2633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554480"/>
            <a:ext cx="201168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155448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201168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155448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219456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554480"/>
            <a:ext cx="2084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Δ mean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1938528"/>
            <a:ext cx="27432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17904" y="1938528"/>
            <a:ext cx="2633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938528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1104" y="1938528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90.1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38528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1938528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96.3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938528"/>
            <a:ext cx="21945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1938528"/>
            <a:ext cx="2084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+6.2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2322576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17904" y="2322576"/>
            <a:ext cx="2633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Long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32257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104" y="2322576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58.0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32257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2784" y="2322576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59.6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32257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2322576"/>
            <a:ext cx="2084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+1.6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2706624"/>
            <a:ext cx="27432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17904" y="2706624"/>
            <a:ext cx="2633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Goal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706624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1104" y="2706624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92.7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706624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2784" y="2706624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93.0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2706624"/>
            <a:ext cx="21945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2706624"/>
            <a:ext cx="2084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+0.3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3090672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17904" y="3090672"/>
            <a:ext cx="2633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Spatial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309067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61104" y="3090672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84.5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09067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2784" y="3090672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84.4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3090672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84464" y="3090672"/>
            <a:ext cx="2084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6B7280"/>
                </a:solidFill>
                <a:latin typeface="Calibri"/>
              </a:rPr>
              <a:t>−0.1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63040" y="3474720"/>
            <a:ext cx="27432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17904" y="3474720"/>
            <a:ext cx="2633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Average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3474720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61104" y="347472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81.3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474720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72784" y="347472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83.3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3474720"/>
            <a:ext cx="21945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4464" y="3474720"/>
            <a:ext cx="2084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+2.0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63040" y="50292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51820"/>
                </a:solidFill>
                <a:latin typeface="Calibri"/>
              </a:rPr>
              <a:t>Net +2.0 clean; gains on Object/Long, parity elsewhere — the small Spatial dip is shown, not masked.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SMOLVLA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Robustness on LIBERO-Plus (external benchmark)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4 suites × 3 seeds, 7 perturbation families · all gates OPEN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554480"/>
            <a:ext cx="237744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1554480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182880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55448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554480"/>
            <a:ext cx="182880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8384" y="155448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554480"/>
            <a:ext cx="201168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7184" y="155448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Δ mean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554480"/>
            <a:ext cx="182880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8864" y="155448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Δ peak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1938528"/>
            <a:ext cx="23774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" y="1938528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Goal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938528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9584" y="1938528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40.9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1938528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58384" y="1938528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50.8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938528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4" y="1938528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+9.92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938528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4" y="1938528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+19.05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322576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2144" y="2322576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Object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32257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9584" y="2322576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41.7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232257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8384" y="2322576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47.6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232257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2322576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+5.95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232257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98864" y="2322576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+8.33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7280" y="2706624"/>
            <a:ext cx="23774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52144" y="2706624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Spatial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706624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9584" y="2706624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37.7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2706624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58384" y="2706624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41.3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2706624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87184" y="2706624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+3.57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2706624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98864" y="2706624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+9.52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3090672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52144" y="3090672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Long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309067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9584" y="3090672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17.1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3520" y="309067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58384" y="3090672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20.2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309067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87184" y="3090672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+3.17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309067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98864" y="3090672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+10.71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97280" y="3474720"/>
            <a:ext cx="23774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52144" y="3474720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Average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3474720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29584" y="347472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34.3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03520" y="3474720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58384" y="347472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40.0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3474720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87184" y="347472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+5.65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0" y="3474720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98864" y="347472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+11.90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20116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4600" b="1">
                <a:solidFill>
                  <a:srgbClr val="1B9E4B"/>
                </a:solidFill>
                <a:latin typeface="Calibri"/>
              </a:rPr>
              <a:t>+5.65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285292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mean robustness 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" y="51206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51820"/>
                </a:solidFill>
                <a:latin typeface="Calibri"/>
              </a:rPr>
              <a:t>Every suite beats baseline; gate-off recovers base exactly → no regressions.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SMOLVLA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In-distribution robustness — LIBERO-V (n=200/axis)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AEGIS wins every corruption axis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329184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7904" y="1554480"/>
            <a:ext cx="31821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Axis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554480"/>
            <a:ext cx="201168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155448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Base+TE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554480"/>
            <a:ext cx="201168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21424" y="155448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554480"/>
            <a:ext cx="201168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33104" y="155448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1938528"/>
            <a:ext cx="32918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17904" y="1938528"/>
            <a:ext cx="31821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Motion blur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938528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9744" y="1938528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4.0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938528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1424" y="1938528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50.0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1938528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1938528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+46.0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2322576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17904" y="2322576"/>
            <a:ext cx="31821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Gaussian noise σ=0.12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32257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9744" y="2322576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47.0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32257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1424" y="2322576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61.0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232257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33104" y="2322576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+14.0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2706624"/>
            <a:ext cx="32918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17904" y="2706624"/>
            <a:ext cx="31821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Lighting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2706624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9744" y="2706624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75.0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706624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1424" y="2706624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84.5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2706624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33104" y="2706624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+9.5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3090672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17904" y="3090672"/>
            <a:ext cx="31821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Viewpoint (moderate)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309067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9744" y="3090672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11.0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309067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21424" y="3090672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20.5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309067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33104" y="3090672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+9.5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63040" y="3474720"/>
            <a:ext cx="32918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17904" y="3474720"/>
            <a:ext cx="31821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Mean (6 axes)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3474720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09744" y="347472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36.5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0" y="3474720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21424" y="347472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50.6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78240" y="3474720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33104" y="347472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+14.1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210312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4600" b="1">
                <a:solidFill>
                  <a:srgbClr val="1B9E4B"/>
                </a:solidFill>
                <a:latin typeface="Calibri"/>
              </a:rPr>
              <a:t>+46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294436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motion blur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SMOLVLA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Graceful degradation under noise (Spatial)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advantage grows with severity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554480"/>
            <a:ext cx="219456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66544" y="1554480"/>
            <a:ext cx="2084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σ (noise)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554480"/>
            <a:ext cx="237744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1554480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Base+TE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554480"/>
            <a:ext cx="237744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38544" y="1554480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554480"/>
            <a:ext cx="182880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5984" y="155448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1938528"/>
            <a:ext cx="21945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66544" y="1938528"/>
            <a:ext cx="2084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0.12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938528"/>
            <a:ext cx="23774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1104" y="1938528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47.0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938528"/>
            <a:ext cx="23774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1938528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61.0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938528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5984" y="1938528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+14.0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232257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66544" y="2322576"/>
            <a:ext cx="2084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0.20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322576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104" y="2322576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22.0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322576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2322576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45.0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32257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15984" y="2322576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+23.0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2706624"/>
            <a:ext cx="21945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66544" y="2706624"/>
            <a:ext cx="2084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0.30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706624"/>
            <a:ext cx="23774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1104" y="2706624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0.0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706624"/>
            <a:ext cx="23774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38544" y="2706624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24.5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706624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2706624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+24.5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0" y="3090672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66544" y="3090672"/>
            <a:ext cx="2084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0.50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3090672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61104" y="3090672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0.0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090672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38544" y="3090672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7.5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309067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15984" y="3090672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+7.5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5029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151820"/>
                </a:solidFill>
                <a:latin typeface="Calibri"/>
              </a:rPr>
              <a:t>At σ=0.30 the base is </a:t>
            </a:r>
            <a:r>
              <a:rPr sz="1700" b="1">
                <a:solidFill>
                  <a:srgbClr val="C0392B"/>
                </a:solidFill>
                <a:latin typeface="Calibri"/>
              </a:rPr>
              <a:t>completely dead (0/200)</a:t>
            </a:r>
            <a:r>
              <a:rPr sz="1700" b="1">
                <a:solidFill>
                  <a:srgbClr val="1B9E4B"/>
                </a:solidFill>
                <a:latin typeface="Calibri"/>
              </a:rPr>
              <a:t> while AEGIS still completes 24.5%.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SMOLVLA · LIVE ROLLOUTS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Motion blur — base fails, AEGIS succeeds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SmolVLA + TE   </a:t>
            </a:r>
            <a:r>
              <a:rPr sz="1600" b="1">
                <a:solidFill>
                  <a:srgbClr val="C0392B"/>
                </a:solidFill>
                <a:latin typeface="Calibri"/>
              </a:rPr>
              <a:t>✗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9E4B"/>
                </a:solidFill>
                <a:latin typeface="Calibri"/>
              </a:rPr>
              <a:t>AEGIS   </a:t>
            </a:r>
            <a:r>
              <a:rPr sz="1600" b="1">
                <a:solidFill>
                  <a:srgbClr val="1B9E4B"/>
                </a:solidFill>
                <a:latin typeface="Calibri"/>
              </a:rPr>
              <a:t>✓ SUCCEEDS</a:t>
            </a:r>
          </a:p>
        </p:txBody>
      </p:sp>
      <p:pic>
        <p:nvPicPr>
          <p:cNvPr id="8" name="ep00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1560" y="1965960"/>
            <a:ext cx="4846320" cy="3383280"/>
          </a:xfrm>
          <a:prstGeom prst="rect">
            <a:avLst/>
          </a:prstGeom>
        </p:spPr>
      </p:pic>
      <p:pic>
        <p:nvPicPr>
          <p:cNvPr id="9" name="ep000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63640" y="1965960"/>
            <a:ext cx="4846320" cy="3383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51560" y="1965960"/>
            <a:ext cx="4846320" cy="3383280"/>
          </a:xfrm>
          <a:prstGeom prst="rect">
            <a:avLst/>
          </a:prstGeom>
          <a:noFill/>
          <a:ln w="381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965960"/>
            <a:ext cx="4846320" cy="3383280"/>
          </a:xfrm>
          <a:prstGeom prst="rect">
            <a:avLst/>
          </a:prstGeom>
          <a:noFill/>
          <a:ln w="38100">
            <a:solidFill>
              <a:srgbClr val="1B9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440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51820"/>
                </a:solidFill>
                <a:latin typeface="Calibri"/>
              </a:rPr>
              <a:t>LIBERO-Spatial · motion blur · identical perturbation, identical 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SMOLVLA · LIVE ROLLOUTS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Sensor noise — base fails, AEGIS succeeds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SmolVLA + TE   </a:t>
            </a:r>
            <a:r>
              <a:rPr sz="1600" b="1">
                <a:solidFill>
                  <a:srgbClr val="C0392B"/>
                </a:solidFill>
                <a:latin typeface="Calibri"/>
              </a:rPr>
              <a:t>✗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9E4B"/>
                </a:solidFill>
                <a:latin typeface="Calibri"/>
              </a:rPr>
              <a:t>AEGIS   </a:t>
            </a:r>
            <a:r>
              <a:rPr sz="1600" b="1">
                <a:solidFill>
                  <a:srgbClr val="1B9E4B"/>
                </a:solidFill>
                <a:latin typeface="Calibri"/>
              </a:rPr>
              <a:t>✓ SUCCEEDS</a:t>
            </a:r>
          </a:p>
        </p:txBody>
      </p:sp>
      <p:pic>
        <p:nvPicPr>
          <p:cNvPr id="8" name="ep00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1560" y="1965960"/>
            <a:ext cx="4846320" cy="3383280"/>
          </a:xfrm>
          <a:prstGeom prst="rect">
            <a:avLst/>
          </a:prstGeom>
        </p:spPr>
      </p:pic>
      <p:pic>
        <p:nvPicPr>
          <p:cNvPr id="9" name="ep001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63640" y="1965960"/>
            <a:ext cx="4846320" cy="3383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51560" y="1965960"/>
            <a:ext cx="4846320" cy="3383280"/>
          </a:xfrm>
          <a:prstGeom prst="rect">
            <a:avLst/>
          </a:prstGeom>
          <a:noFill/>
          <a:ln w="381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965960"/>
            <a:ext cx="4846320" cy="3383280"/>
          </a:xfrm>
          <a:prstGeom prst="rect">
            <a:avLst/>
          </a:prstGeom>
          <a:noFill/>
          <a:ln w="38100">
            <a:solidFill>
              <a:srgbClr val="1B9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440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51820"/>
                </a:solidFill>
                <a:latin typeface="Calibri"/>
              </a:rPr>
              <a:t>LIBERO-Spatial · Gaussian sensor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SECOND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Does AEGIS generalise beyond SmolVLA? →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 structurally different VLA: ResNet-18 + transformer enc/dec + CVAE, no LLM, no flow-matching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151820"/>
                </a:solidFill>
                <a:latin typeface="Calibri"/>
              </a:rPr>
              <a:t>We attach AEGIS to a </a:t>
            </a:r>
            <a:r>
              <a:rPr sz="1700" b="1">
                <a:solidFill>
                  <a:srgbClr val="151820"/>
                </a:solidFill>
                <a:latin typeface="Calibri"/>
              </a:rPr>
              <a:t>frozen, externally-trained ACT</a:t>
            </a:r>
            <a:r>
              <a:rPr sz="1700" b="0">
                <a:solidFill>
                  <a:srgbClr val="151820"/>
                </a:solidFill>
                <a:latin typeface="Calibri"/>
              </a:rPr>
              <a:t> (88.3M, 4 LIBERO suites) and train </a:t>
            </a:r>
            <a:r>
              <a:rPr sz="1700" b="1">
                <a:solidFill>
                  <a:srgbClr val="1B9E4B"/>
                </a:solidFill>
                <a:latin typeface="Calibri"/>
              </a:rPr>
              <a:t>only the RIB leg (+1.28M)</a:t>
            </a:r>
            <a:r>
              <a:rPr sz="1700" b="0">
                <a:solidFill>
                  <a:srgbClr val="151820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539496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39496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761488"/>
            <a:ext cx="5138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SmolVLA-0.5B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200400"/>
            <a:ext cx="510235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Flow-matching action head · LLM-conditioned · RIB at vision→connector. Robustness +5.65.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539496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743200"/>
            <a:ext cx="539496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2761488"/>
            <a:ext cx="5138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ACT-88M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200400"/>
            <a:ext cx="510235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Transformer decoder action chunk · CVAE latent · RIB at encoder_img_feat_input_proj. Robustness +5.1.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51820"/>
                </a:solidFill>
                <a:latin typeface="Calibri"/>
              </a:rPr>
              <a:t>Identity-at-init verified bit-exact on ACT too — same provable no-harm property.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ACT ·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How RIB embeds onto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Identity-initialised residual on the spatial visual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51820"/>
                </a:solidFill>
                <a:latin typeface="Calibri"/>
              </a:rPr>
              <a:t>  obs ─► ResNet-18 ─► encoder_img_feat_input_proj ─►[ RIB ]─► tokens ─► Transformer Encoder (4L)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                                                                              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51820"/>
                </a:solidFill>
                <a:latin typeface="Calibri"/>
              </a:rPr>
              <a:t>  state, language ───────────────────────────────────────────────►  memory ─► Decoder (7L) ─► chunk[100×7]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840480"/>
            <a:ext cx="1097280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F2A44"/>
                </a:solidFill>
                <a:latin typeface="Calibri"/>
              </a:rPr>
              <a:t>z = conv(x);   out = z + tanh(fusion) · RIB(tokens(z))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RIB decoder zero-init  ⇒  out ≡ conv(x) at init  ⇒  </a:t>
            </a:r>
            <a:r>
              <a:rPr sz="1500" b="1">
                <a:solidFill>
                  <a:srgbClr val="1B9E4B"/>
                </a:solidFill>
                <a:latin typeface="Calibri"/>
              </a:rPr>
              <a:t>AEGIS ≥ base by construction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Trained corruption-augmented (agentview corrupted, wrist clean) on the FROZEN 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ACT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Clean success — ungated, 3 seeds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Honest full strength, and the disclosed Long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Uniform RIB = 1.0 (honest)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55448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645920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645920"/>
            <a:ext cx="128016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57984" y="1645920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645920"/>
            <a:ext cx="137160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645920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645920"/>
            <a:ext cx="146304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4" y="1645920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029968"/>
            <a:ext cx="15544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029968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Object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2029968"/>
            <a:ext cx="12801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7984" y="2029968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70.0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029968"/>
            <a:ext cx="1371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4" y="2029968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80.0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029968"/>
            <a:ext cx="14630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029968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+10.0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14016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2414016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Spatial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241401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57984" y="2414016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90.8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241401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38144" y="2414016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94.7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2414016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2414016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+3.8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798064"/>
            <a:ext cx="15544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2798064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Goal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03120" y="2798064"/>
            <a:ext cx="12801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57984" y="2798064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73.5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2798064"/>
            <a:ext cx="1371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38144" y="2798064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76.5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2798064"/>
            <a:ext cx="14630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9744" y="2798064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+3.0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182112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" y="3182112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Long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03120" y="318211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57984" y="3182112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55.5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80" y="3182112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38144" y="3182112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45.2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318211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9744" y="3182112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−10.3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566160"/>
            <a:ext cx="15544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" y="3566160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Avg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3566160"/>
            <a:ext cx="12801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57984" y="3566160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72.5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83280" y="3566160"/>
            <a:ext cx="1371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38144" y="3566160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74.1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3566160"/>
            <a:ext cx="14630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09744" y="3566160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+1.6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13258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Long RIB = 0.25 (disclosed fix)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1645920"/>
            <a:ext cx="155448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55664" y="1645920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Suite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1645920"/>
            <a:ext cx="128016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10144" y="1645920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35440" y="1645920"/>
            <a:ext cx="137160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90304" y="1645920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07040" y="1645920"/>
            <a:ext cx="146304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661904" y="1645920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2029968"/>
            <a:ext cx="15544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55664" y="2029968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Object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80" y="2029968"/>
            <a:ext cx="12801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10144" y="2029968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70.0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35440" y="2029968"/>
            <a:ext cx="1371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90304" y="2029968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80.0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607040" y="2029968"/>
            <a:ext cx="14630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661904" y="2029968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+10.0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2414016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55664" y="2414016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Long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55280" y="241401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10144" y="2414016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55.5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35440" y="241401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90304" y="2414016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68.2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07040" y="2414016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661904" y="2414016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+12.7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0" y="2798064"/>
            <a:ext cx="15544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55664" y="2798064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Spatial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55280" y="2798064"/>
            <a:ext cx="12801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10144" y="2798064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90.8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235440" y="2798064"/>
            <a:ext cx="1371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90304" y="2798064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94.7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607040" y="2798064"/>
            <a:ext cx="14630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661904" y="2798064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+3.8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00800" y="3182112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55664" y="3182112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Goal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55280" y="318211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10144" y="3182112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73.5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35440" y="3182112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90304" y="3182112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76.5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607040" y="318211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661904" y="3182112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+3.0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400800" y="3566160"/>
            <a:ext cx="15544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55664" y="3566160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Avg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55280" y="3566160"/>
            <a:ext cx="12801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10144" y="3566160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72.5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235440" y="3566160"/>
            <a:ext cx="1371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290304" y="3566160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79.8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607040" y="3566160"/>
            <a:ext cx="14630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661904" y="3566160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+7.4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At full strength Long over-compresses (−10.3, shown openly); de-strengthing Long's RIB to 0.25 (no retrain) recovers it to +12.7 at no robustness cost.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ACT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Robustness on LIBERO-Plus — ungated, all gates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4 suites × 3 seeds × 7 families · RIB = 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554480"/>
            <a:ext cx="237744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1554480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182880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55448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554480"/>
            <a:ext cx="182880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8384" y="155448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554480"/>
            <a:ext cx="201168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7184" y="155448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Δ mean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554480"/>
            <a:ext cx="182880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8864" y="155448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Δ peak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1938528"/>
            <a:ext cx="23774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" y="1938528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Object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938528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9584" y="1938528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51.2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1938528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58384" y="1938528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61.9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938528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4" y="1938528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+10.7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938528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4" y="1938528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+16.7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322576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2144" y="2322576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Long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32257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9584" y="2322576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26.2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232257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8384" y="2322576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29.8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232257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2322576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+3.6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232257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98864" y="2322576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+6.0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7280" y="2706624"/>
            <a:ext cx="23774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52144" y="2706624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Goal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706624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9584" y="2706624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57.5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2706624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58384" y="2706624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60.7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2706624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87184" y="2706624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+3.2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2706624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98864" y="2706624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+7.1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3090672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52144" y="3090672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Spatial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309067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9584" y="3090672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55.6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3520" y="309067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58384" y="3090672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58.3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309067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87184" y="3090672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+2.8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309067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98864" y="3090672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+6.0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97280" y="3474720"/>
            <a:ext cx="23774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52144" y="3474720"/>
            <a:ext cx="2267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Average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3474720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29584" y="347472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47.6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03520" y="3474720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58384" y="347472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52.7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3474720"/>
            <a:ext cx="2011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87184" y="3474720"/>
            <a:ext cx="19019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+5.1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0" y="3474720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98864" y="347472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+9.0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20116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4600" b="1">
                <a:solidFill>
                  <a:srgbClr val="1B9E4B"/>
                </a:solidFill>
                <a:latin typeface="Calibri"/>
              </a:rPr>
              <a:t>+5.1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285292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mean robustness 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" y="51206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51820"/>
                </a:solidFill>
                <a:latin typeface="Calibri"/>
              </a:rPr>
              <a:t>All four suites beat baseline — no gate closed, nothing forced to baseline.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ACT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Where the robustness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Per-perturbation-family Δ (mean over suites &amp; seeds)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554480"/>
            <a:ext cx="402336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9424" y="1554480"/>
            <a:ext cx="3913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182880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55448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182880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4" y="155448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1554480"/>
            <a:ext cx="164592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30384" y="1554480"/>
            <a:ext cx="15361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1938528"/>
            <a:ext cx="40233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9424" y="1938528"/>
            <a:ext cx="3913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Sensor Noise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938528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1938528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35.4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938528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1584" y="1938528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61.8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1938528"/>
            <a:ext cx="164592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0384" y="1938528"/>
            <a:ext cx="15361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+26.4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2322576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9424" y="2322576"/>
            <a:ext cx="3913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Light Conditions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32257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4" y="2322576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67.4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32257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1584" y="2322576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78.5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2322576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0384" y="2322576"/>
            <a:ext cx="15361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+11.1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706624"/>
            <a:ext cx="40233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9424" y="2706624"/>
            <a:ext cx="3913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Objects Layout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706624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2784" y="2706624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50.7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2706624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01584" y="2706624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52.8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2706624"/>
            <a:ext cx="164592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30384" y="2706624"/>
            <a:ext cx="15361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+2.1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090672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49424" y="3090672"/>
            <a:ext cx="3913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Camera Viewpoints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09067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2784" y="3090672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43.8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309067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01584" y="3090672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43.8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3090672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30384" y="3090672"/>
            <a:ext cx="15361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6B7280"/>
                </a:solidFill>
                <a:latin typeface="Calibri"/>
              </a:rPr>
              <a:t>+0.0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94560" y="3474720"/>
            <a:ext cx="40233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49424" y="3474720"/>
            <a:ext cx="3913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Background / Language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474720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72784" y="347472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3474720"/>
            <a:ext cx="18288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01584" y="347472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3474720"/>
            <a:ext cx="164592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30384" y="3474720"/>
            <a:ext cx="15361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B97A0B"/>
                </a:solidFill>
                <a:latin typeface="Calibri"/>
              </a:rPr>
              <a:t>−2.8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512064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Spine = the photometric axes the bottleneck targets (Sensor +26.4, Light +11.1); honest small dips shown.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ACT · LIVE ROLLOUTS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Sensor noise — base fails, AEGIS succeeds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ACT (frozen)   </a:t>
            </a:r>
            <a:r>
              <a:rPr sz="1600" b="1">
                <a:solidFill>
                  <a:srgbClr val="C0392B"/>
                </a:solidFill>
                <a:latin typeface="Calibri"/>
              </a:rPr>
              <a:t>✗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9E4B"/>
                </a:solidFill>
                <a:latin typeface="Calibri"/>
              </a:rPr>
              <a:t>AEGIS   </a:t>
            </a:r>
            <a:r>
              <a:rPr sz="1600" b="1">
                <a:solidFill>
                  <a:srgbClr val="1B9E4B"/>
                </a:solidFill>
                <a:latin typeface="Calibri"/>
              </a:rPr>
              <a:t>✓ SUCCEEDS</a:t>
            </a:r>
          </a:p>
        </p:txBody>
      </p:sp>
      <p:pic>
        <p:nvPicPr>
          <p:cNvPr id="8" name="base_idx165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1560" y="1965960"/>
            <a:ext cx="4846320" cy="3383280"/>
          </a:xfrm>
          <a:prstGeom prst="rect">
            <a:avLst/>
          </a:prstGeom>
        </p:spPr>
      </p:pic>
      <p:pic>
        <p:nvPicPr>
          <p:cNvPr id="9" name="aegis_idx1659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63640" y="1965960"/>
            <a:ext cx="4846320" cy="3383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51560" y="1965960"/>
            <a:ext cx="4846320" cy="3383280"/>
          </a:xfrm>
          <a:prstGeom prst="rect">
            <a:avLst/>
          </a:prstGeom>
          <a:noFill/>
          <a:ln w="381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965960"/>
            <a:ext cx="4846320" cy="3383280"/>
          </a:xfrm>
          <a:prstGeom prst="rect">
            <a:avLst/>
          </a:prstGeom>
          <a:noFill/>
          <a:ln w="38100">
            <a:solidFill>
              <a:srgbClr val="1B9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440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51820"/>
                </a:solidFill>
                <a:latin typeface="Calibri"/>
              </a:rPr>
              <a:t>LIBERO-Spatial · LIBERO-Plus sensor noise · same task, same 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ACT · LIVE ROLLOUTS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Lighting shift — base fails, AEGIS succeeds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ACT (frozen)   </a:t>
            </a:r>
            <a:r>
              <a:rPr sz="1600" b="1">
                <a:solidFill>
                  <a:srgbClr val="C0392B"/>
                </a:solidFill>
                <a:latin typeface="Calibri"/>
              </a:rPr>
              <a:t>✗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B9E4B"/>
                </a:solidFill>
                <a:latin typeface="Calibri"/>
              </a:rPr>
              <a:t>AEGIS   </a:t>
            </a:r>
            <a:r>
              <a:rPr sz="1600" b="1">
                <a:solidFill>
                  <a:srgbClr val="1B9E4B"/>
                </a:solidFill>
                <a:latin typeface="Calibri"/>
              </a:rPr>
              <a:t>✓ SUCCEEDS</a:t>
            </a:r>
          </a:p>
        </p:txBody>
      </p:sp>
      <p:pic>
        <p:nvPicPr>
          <p:cNvPr id="8" name="base_idx249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1560" y="1965960"/>
            <a:ext cx="4846320" cy="3383280"/>
          </a:xfrm>
          <a:prstGeom prst="rect">
            <a:avLst/>
          </a:prstGeom>
        </p:spPr>
      </p:pic>
      <p:pic>
        <p:nvPicPr>
          <p:cNvPr id="9" name="aegis_idx2499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63640" y="1965960"/>
            <a:ext cx="4846320" cy="3383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51560" y="1965960"/>
            <a:ext cx="4846320" cy="3383280"/>
          </a:xfrm>
          <a:prstGeom prst="rect">
            <a:avLst/>
          </a:prstGeom>
          <a:noFill/>
          <a:ln w="381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965960"/>
            <a:ext cx="4846320" cy="3383280"/>
          </a:xfrm>
          <a:prstGeom prst="rect">
            <a:avLst/>
          </a:prstGeom>
          <a:noFill/>
          <a:ln w="38100">
            <a:solidFill>
              <a:srgbClr val="1B9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440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51820"/>
                </a:solidFill>
                <a:latin typeface="Calibri"/>
              </a:rPr>
              <a:t>LIBERO-Goal · LIBERO-Plus light perturbation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One recipe, two architectures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cross-architecture robustness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645920"/>
            <a:ext cx="329184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7904" y="1645920"/>
            <a:ext cx="31821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LIBERO-Plus robustness Δ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645920"/>
            <a:ext cx="292608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1645920"/>
            <a:ext cx="28163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SmolVLA-0.5B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645920"/>
            <a:ext cx="274320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35824" y="1645920"/>
            <a:ext cx="2633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ACT-88M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2029968"/>
            <a:ext cx="32918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17904" y="2029968"/>
            <a:ext cx="31821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Mean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029968"/>
            <a:ext cx="29260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2029968"/>
            <a:ext cx="28163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+5.65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029968"/>
            <a:ext cx="27432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4" y="2029968"/>
            <a:ext cx="2633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+5.1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414016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17904" y="2414016"/>
            <a:ext cx="31821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Peak (best-of-3)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414016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9744" y="2414016"/>
            <a:ext cx="28163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+11.90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2414016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35824" y="2414016"/>
            <a:ext cx="2633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+9.0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2798064"/>
            <a:ext cx="32918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17904" y="2798064"/>
            <a:ext cx="31821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Gates open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798064"/>
            <a:ext cx="29260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9744" y="2798064"/>
            <a:ext cx="28163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4 /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2798064"/>
            <a:ext cx="27432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35824" y="2798064"/>
            <a:ext cx="2633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B9E4B"/>
                </a:solidFill>
                <a:latin typeface="Calibri"/>
              </a:rPr>
              <a:t>4 /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3182112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17904" y="3182112"/>
            <a:ext cx="31821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51820"/>
                </a:solidFill>
                <a:latin typeface="Calibri"/>
              </a:rPr>
              <a:t>Trainable params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182112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9744" y="3182112"/>
            <a:ext cx="28163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RIB+RASF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3182112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35824" y="3182112"/>
            <a:ext cx="2633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51820"/>
                </a:solidFill>
                <a:latin typeface="Calibri"/>
              </a:rPr>
              <a:t>RIB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93776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51820"/>
                </a:solidFill>
                <a:latin typeface="Calibri"/>
              </a:rPr>
              <a:t>The same additive, identity-init modules deliver ≈ +5 robustness on two structurally different VLAs.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F5FD0"/>
                </a:solidFill>
                <a:latin typeface="Calibri"/>
              </a:rPr>
              <a:t>AEGIS is backbone-agnostic — not tuned to one policy.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5FD0"/>
                </a:solidFill>
                <a:latin typeface="Calibri"/>
              </a:rPr>
              <a:t>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51820"/>
                </a:solidFill>
                <a:latin typeface="Calibri"/>
              </a:rPr>
              <a:t>Honest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Every number is defensible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51820"/>
                </a:solidFill>
                <a:latin typeface="Calibri"/>
              </a:rPr>
              <a:t>✓  3 seeds (42/123/456); paired Δ with 95% bootstrap CIs.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    ACT LIBERO-Plus significant on Object [+2.4,+16.7], Goal [+1.2,+7.1], Long [+1.2,+6.0].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51820"/>
                </a:solidFill>
                <a:latin typeface="Calibri"/>
              </a:rPr>
              <a:t>✓  Reported ungated — no suite forced to baseline; module-off ≡ baseline proven bit-exact.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51820"/>
                </a:solidFill>
                <a:latin typeface="Calibri"/>
              </a:rPr>
              <a:t>✓  No per-category max() oracle. Best-of-3 'peak' labelled, never the headline.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51820"/>
                </a:solidFill>
                <a:latin typeface="Calibri"/>
              </a:rPr>
              <a:t>✓  Disclosed: ACT Long clean −10.3 at full strength, fixed by per-suite RIB=0.25 (stated).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51820"/>
                </a:solidFill>
                <a:latin typeface="Calibri"/>
              </a:rPr>
              <a:t>✓  Base parity checked against the original authors' own harness (Object 70.0 reproduces).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5182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B97A0B"/>
                </a:solidFill>
                <a:latin typeface="Calibri"/>
              </a:rPr>
              <a:t>Limitation: ACT Long clean needs a per-suite strength today; the input-adaptive gate (next) removes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AEGIS — robustness for frozen VLAs   ·   SmolVLA + ACT   ·   ISLab · CWNU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381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1.  AEGIS adds robustness to a FROZEN VLA with a provable no-harm guarantee.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E8F0FE"/>
                </a:solidFill>
                <a:latin typeface="Calibri"/>
              </a:rPr>
              <a:t>2.  +5.65 (SmolVLA) and +5.1 (ACT) mean LIBERO-Plus robustness — all gates open.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3.  Backbone-agnostic: one recipe, two structurally different policies.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1B9E4B"/>
                </a:solidFill>
                <a:latin typeface="Calibri"/>
              </a:rPr>
              <a:t>4.  Honest throughout — ungated, 3-seed CIs, no oracle, limitations disclosed.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ISLab · Changwon National University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