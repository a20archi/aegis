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jpg"/><Relationship Id="rId5" Type="http://schemas.microsoft.com/office/2007/relationships/media" Target="../media/media1.mp4"/><Relationship Id="rId6" Type="http://schemas.openxmlformats.org/officeDocument/2006/relationships/video" Target="../media/media1.mp4"/><Relationship Id="rId7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jpg"/><Relationship Id="rId5" Type="http://schemas.microsoft.com/office/2007/relationships/media" Target="../media/media4.mp4"/><Relationship Id="rId6" Type="http://schemas.openxmlformats.org/officeDocument/2006/relationships/video" Target="../media/media4.mp4"/><Relationship Id="rId7" Type="http://schemas.openxmlformats.org/officeDocument/2006/relationships/image" Target="../media/image4.jpg"/><Relationship Id="rId8" Type="http://schemas.microsoft.com/office/2007/relationships/media" Target="../media/media5.mp4"/><Relationship Id="rId9" Type="http://schemas.openxmlformats.org/officeDocument/2006/relationships/video" Target="../media/media5.mp4"/><Relationship Id="rId10" Type="http://schemas.openxmlformats.org/officeDocument/2006/relationships/image" Target="../media/image5.jpg"/><Relationship Id="rId11" Type="http://schemas.microsoft.com/office/2007/relationships/media" Target="../media/media6.mp4"/><Relationship Id="rId12" Type="http://schemas.openxmlformats.org/officeDocument/2006/relationships/video" Target="../media/media6.mp4"/><Relationship Id="rId13" Type="http://schemas.openxmlformats.org/officeDocument/2006/relationships/image" Target="../media/image6.jpg"/><Relationship Id="rId14" Type="http://schemas.microsoft.com/office/2007/relationships/media" Target="../media/media7.mp4"/><Relationship Id="rId15" Type="http://schemas.openxmlformats.org/officeDocument/2006/relationships/video" Target="../media/media7.mp4"/><Relationship Id="rId16" Type="http://schemas.openxmlformats.org/officeDocument/2006/relationships/image" Target="../media/image7.jpg"/><Relationship Id="rId17" Type="http://schemas.microsoft.com/office/2007/relationships/media" Target="../media/media8.mp4"/><Relationship Id="rId18" Type="http://schemas.openxmlformats.org/officeDocument/2006/relationships/video" Target="../media/media8.mp4"/><Relationship Id="rId19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jpg"/><Relationship Id="rId5" Type="http://schemas.microsoft.com/office/2007/relationships/media" Target="../media/media10.mp4"/><Relationship Id="rId6" Type="http://schemas.openxmlformats.org/officeDocument/2006/relationships/video" Target="../media/media10.mp4"/><Relationship Id="rId7" Type="http://schemas.openxmlformats.org/officeDocument/2006/relationships/image" Target="../media/image10.jpg"/><Relationship Id="rId8" Type="http://schemas.microsoft.com/office/2007/relationships/media" Target="../media/media11.mp4"/><Relationship Id="rId9" Type="http://schemas.openxmlformats.org/officeDocument/2006/relationships/video" Target="../media/media11.mp4"/><Relationship Id="rId10" Type="http://schemas.openxmlformats.org/officeDocument/2006/relationships/image" Target="../media/image11.jpg"/><Relationship Id="rId11" Type="http://schemas.microsoft.com/office/2007/relationships/media" Target="../media/media12.mp4"/><Relationship Id="rId12" Type="http://schemas.openxmlformats.org/officeDocument/2006/relationships/video" Target="../media/media12.mp4"/><Relationship Id="rId13" Type="http://schemas.openxmlformats.org/officeDocument/2006/relationships/image" Target="../media/image12.jpg"/><Relationship Id="rId14" Type="http://schemas.microsoft.com/office/2007/relationships/media" Target="../media/media13.mp4"/><Relationship Id="rId15" Type="http://schemas.openxmlformats.org/officeDocument/2006/relationships/video" Target="../media/media13.mp4"/><Relationship Id="rId16" Type="http://schemas.openxmlformats.org/officeDocument/2006/relationships/image" Target="../media/image13.jpg"/><Relationship Id="rId17" Type="http://schemas.microsoft.com/office/2007/relationships/media" Target="../media/media14.mp4"/><Relationship Id="rId18" Type="http://schemas.openxmlformats.org/officeDocument/2006/relationships/video" Target="../media/media14.mp4"/><Relationship Id="rId19" Type="http://schemas.openxmlformats.org/officeDocument/2006/relationships/image" Target="../media/image1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600" b="1">
                <a:solidFill>
                  <a:srgbClr val="1F5FD0"/>
                </a:solidFill>
                <a:latin typeface="Calibri"/>
              </a:rPr>
              <a:t>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51820"/>
                </a:solidFill>
                <a:latin typeface="Calibri"/>
              </a:rPr>
              <a:t>Dual-Locus Robustness for a Frozen Vision-Language-Action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A rate-limited information bottleneck at two interfaces of a frozen SmolVLA — 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perception (vision→LLM connector) and action (sampled chunk) — plus temporal consensus.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06240"/>
            <a:ext cx="35661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206240"/>
            <a:ext cx="3566160" cy="310896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224528"/>
            <a:ext cx="3346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BASE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4590288"/>
            <a:ext cx="33101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SmolVLA-500M
Frozen backbone (no weight grad)
RIB ~2.27M + RASF ~few-k trained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4206240"/>
            <a:ext cx="35661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4206240"/>
            <a:ext cx="3566160" cy="310896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4224528"/>
            <a:ext cx="3346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4590288"/>
            <a:ext cx="33101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LIBERO — 4 suites + LIBERO-V
corruptions
n=200 / condition · fixed init-states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4206240"/>
            <a:ext cx="356616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4206240"/>
            <a:ext cx="3566160" cy="310896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7" y="4224528"/>
            <a:ext cx="3346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5" y="4590288"/>
            <a:ext cx="331012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n_action_steps = 1 (paper-matched)
10 flow-matching denoise steps
Both arms carry TE → Δ isolates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ISLab · Changwon National University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01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Final AEGIS — Two Interfaces, One Consensus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Three insertions on a frozen SmolVLA; both modules are exact pass-throughs at init → clean success protected by construction.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691640" cy="914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554480"/>
            <a:ext cx="15453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RGB obs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965960"/>
            <a:ext cx="1545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frozen vision enc</a:t>
            </a:r>
          </a:p>
        </p:txBody>
      </p:sp>
      <p:sp>
        <p:nvSpPr>
          <p:cNvPr id="10" name="Can 9"/>
          <p:cNvSpPr/>
          <p:nvPr/>
        </p:nvSpPr>
        <p:spPr>
          <a:xfrm>
            <a:off x="2029968" y="1847088"/>
            <a:ext cx="292608" cy="164592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58568" y="1463040"/>
            <a:ext cx="1691640" cy="914400"/>
          </a:xfrm>
          <a:prstGeom prst="rect">
            <a:avLst/>
          </a:prstGeom>
          <a:solidFill>
            <a:srgbClr val="1F5FD0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554480"/>
            <a:ext cx="15453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◤ RIB 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65960"/>
            <a:ext cx="1545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EF2FF"/>
                </a:solidFill>
                <a:latin typeface="Calibri"/>
              </a:rPr>
              <a:t>PERCEPTION locus
VIB @ connector</a:t>
            </a:r>
          </a:p>
        </p:txBody>
      </p:sp>
      <p:sp>
        <p:nvSpPr>
          <p:cNvPr id="14" name="Can 13"/>
          <p:cNvSpPr/>
          <p:nvPr/>
        </p:nvSpPr>
        <p:spPr>
          <a:xfrm>
            <a:off x="4215384" y="1847088"/>
            <a:ext cx="292608" cy="164592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7096" y="1463040"/>
            <a:ext cx="1691640" cy="914400"/>
          </a:xfrm>
          <a:prstGeom prst="rect">
            <a:avLst/>
          </a:prstGeom>
          <a:solidFill>
            <a:srgbClr val="1F2A44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1554480"/>
            <a:ext cx="15453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Action Expert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1965960"/>
            <a:ext cx="1545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EF2FF"/>
                </a:solidFill>
                <a:latin typeface="Calibri"/>
              </a:rPr>
              <a:t>flow-matching ODE
(frozen)</a:t>
            </a:r>
          </a:p>
        </p:txBody>
      </p:sp>
      <p:sp>
        <p:nvSpPr>
          <p:cNvPr id="18" name="Can 17"/>
          <p:cNvSpPr/>
          <p:nvPr/>
        </p:nvSpPr>
        <p:spPr>
          <a:xfrm>
            <a:off x="6153912" y="1847088"/>
            <a:ext cx="292608" cy="164592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1463040"/>
            <a:ext cx="1691640" cy="914400"/>
          </a:xfrm>
          <a:prstGeom prst="rect">
            <a:avLst/>
          </a:prstGeom>
          <a:solidFill>
            <a:srgbClr val="1F5FD0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8776" y="1554480"/>
            <a:ext cx="15453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◤ RASF 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965960"/>
            <a:ext cx="1545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EF2FF"/>
                </a:solidFill>
                <a:latin typeface="Calibri"/>
              </a:rPr>
              <a:t>ACTION locus
spectral residual</a:t>
            </a:r>
          </a:p>
        </p:txBody>
      </p:sp>
      <p:sp>
        <p:nvSpPr>
          <p:cNvPr id="22" name="Can 21"/>
          <p:cNvSpPr/>
          <p:nvPr/>
        </p:nvSpPr>
        <p:spPr>
          <a:xfrm>
            <a:off x="8092440" y="1847088"/>
            <a:ext cx="292608" cy="164592"/>
          </a:xfrm>
          <a:prstGeom prst="can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4152" y="1463040"/>
            <a:ext cx="1691640" cy="914400"/>
          </a:xfrm>
          <a:prstGeom prst="rect">
            <a:avLst/>
          </a:prstGeom>
          <a:solidFill>
            <a:srgbClr val="1B9E4B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1554480"/>
            <a:ext cx="154533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◤ TE ◥ → env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1965960"/>
            <a:ext cx="1545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EEF2FF"/>
                </a:solidFill>
                <a:latin typeface="Calibri"/>
              </a:rPr>
              <a:t>RECEDING horizon
consensus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788920"/>
            <a:ext cx="553212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2788920"/>
            <a:ext cx="5532120" cy="310896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807208"/>
            <a:ext cx="5312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PERCEPTION LOCUS — RIB  (Robust Information Bottleneck)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3172968"/>
            <a:ext cx="527608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Replaces the vision→LLM connector linear with a fused projector = original + gated robustness correction (~2.27M params, deterministic latent).
• Spatial-context mixing localises WHERE a corruption sits.
• Bounded rate penalty with a floor → lossless on benign input.
• Trained on GENERIC augmentation (photometric+warp); eval perturbations held out.
→ Owns the visual-robustness axis (systematic shifts a temporal average can't remove).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2788920"/>
            <a:ext cx="553212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2788920"/>
            <a:ext cx="5532120" cy="310896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807208"/>
            <a:ext cx="531266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ACTION LOCUS — RASF  (Residual Adaptive Spectral Filter)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172968"/>
            <a:ext cx="527608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Sampled chunk A:(50,7) → DCT-II along time → input-adaptive per-band gain → inverse → committed as a BOUNDED residual: A_hat = A + gate·tanh·(filtered−A).
• Benign chunk ⇒ all-pass; anomalous band energy ⇒ that band pulled down.
• Five structural guarantees ⇒ cannot collapse (pass-through init, bounded, gain floor).
• Self-referential denoiser: target = policy's own benign prediction.
→ Owns the action-spectrum axis (motion regularity + injected action-noise retention).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578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9E4B"/>
                </a:solidFill>
                <a:latin typeface="Calibri"/>
              </a:rPr>
              <a:t>Consensus (TE): </a:t>
            </a:r>
            <a:r>
              <a:rPr sz="1200" b="0">
                <a:solidFill>
                  <a:srgbClr val="151820"/>
                </a:solidFill>
                <a:latin typeface="Calibri"/>
              </a:rPr>
              <a:t>position-aligned exponential averaging over overlapping chunks, inference-time only, present in BOTH arms — so every reported Δ isolates the AEGIS modules. TE handles stochastic per-frame noise; RIB handles the systematic visual shift no average can remove — complementary by construction.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01 · ARCHITECTURE — IN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How the Two Loci Act Together — Live Roll-out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AEGIS executing a LIBERO-Spatial task end-to-end: perception correction (RIB) → action regularisation (RASF) → temporal consensus (TE).</a:t>
            </a:r>
          </a:p>
        </p:txBody>
      </p:sp>
      <p:pic>
        <p:nvPicPr>
          <p:cNvPr id="7" name="ep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2920" y="1417320"/>
            <a:ext cx="5852160" cy="4206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1417320"/>
            <a:ext cx="5852160" cy="4206240"/>
          </a:xfrm>
          <a:prstGeom prst="rect">
            <a:avLst/>
          </a:prstGeom>
          <a:noFill/>
          <a:ln w="317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66928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AEGIS roll-out — clean LIBERO-Spatial (</a:t>
            </a:r>
            <a:r>
              <a:rPr sz="1100" b="1">
                <a:solidFill>
                  <a:srgbClr val="1B9E4B"/>
                </a:solidFill>
                <a:latin typeface="Calibri"/>
              </a:rPr>
              <a:t>press play</a:t>
            </a:r>
            <a:r>
              <a:rPr sz="1100" b="1">
                <a:solidFill>
                  <a:srgbClr val="1B9E4B"/>
                </a:solidFill>
                <a:latin typeface="Calibri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417320"/>
            <a:ext cx="502920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417320"/>
            <a:ext cx="502920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43560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 — Perception correction (RIB)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801368"/>
            <a:ext cx="477316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Each frame's patch tokens pass the fused connector. On benign input the gated correction is ~0 (pass-through); under a visual shift the bottleneck sheds the corruption-sensitive subspace before the LLM reads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880360"/>
            <a:ext cx="502920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75120" y="2880360"/>
            <a:ext cx="502920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84848" y="289864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 — Action regularisation (RASF)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3264408"/>
            <a:ext cx="477316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The action expert samples a 50-step chunk. RASF transforms it to the frequency domain, pulls down anomalous bands within a bounded residual, and returns a smooth chunk (RMS jerk ~10× lower).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5029200" cy="132588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343400"/>
            <a:ext cx="502920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4361688"/>
            <a:ext cx="48097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 — Temporal consensus (TE)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4727448"/>
            <a:ext cx="4773168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Overlapping chunks are fused with newer predictions weighted higher, averaging out per-frame stochastic noise before the env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02 · CLEAN SUCCESS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AEGIS vs Vanilla SmolVLA — Clean SR (n=200/suite)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Per-suite adaptive gating: identity-residual modules engage only where they help (module off ≡ base exactly).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920240" cy="310896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417320"/>
            <a:ext cx="1554480" cy="310896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41732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paper 0.45B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7640" y="1417320"/>
            <a:ext cx="1463040" cy="310896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417320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base + 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417320"/>
            <a:ext cx="1371600" cy="310896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41732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1417320"/>
            <a:ext cx="1280160" cy="310896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417320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728216"/>
            <a:ext cx="19202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28216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1728216"/>
            <a:ext cx="1554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1728216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77640" y="1728216"/>
            <a:ext cx="14630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728216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80.5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728216"/>
            <a:ext cx="13716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728216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85.5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1728216"/>
            <a:ext cx="128016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728216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+5.0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039112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039112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2039112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2039112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77640" y="2039112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2039112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97.5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39112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0" y="2039112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95.0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2280" y="2039112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039112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−2.5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2350008"/>
            <a:ext cx="19202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350008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23160" y="2350008"/>
            <a:ext cx="1554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8880" y="2350008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92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77640" y="2350008"/>
            <a:ext cx="14630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2350008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91.5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350008"/>
            <a:ext cx="13716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0" y="2350008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93.5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80" y="2350008"/>
            <a:ext cx="128016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350008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+2.0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2660904"/>
            <a:ext cx="19202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2660904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23160" y="2660904"/>
            <a:ext cx="1554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468880" y="2660904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71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77640" y="2660904"/>
            <a:ext cx="14630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23360" y="2660904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64.5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660904"/>
            <a:ext cx="13716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0" y="2660904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56.5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2280" y="2660904"/>
            <a:ext cx="128016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58000" y="2660904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−8.0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2971800"/>
            <a:ext cx="19202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2971800"/>
            <a:ext cx="18288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Average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23160" y="2971800"/>
            <a:ext cx="155448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468880" y="2971800"/>
            <a:ext cx="14630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87.3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77640" y="2971800"/>
            <a:ext cx="146304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23360" y="2971800"/>
            <a:ext cx="137160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83.5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971800"/>
            <a:ext cx="137160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2971800"/>
            <a:ext cx="1280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82.6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12280" y="2971800"/>
            <a:ext cx="1280160" cy="310896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58000" y="2971800"/>
            <a:ext cx="1188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−0.9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37033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Per-suite gating (modules on only where they help):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4023360"/>
            <a:ext cx="192024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0233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4023360"/>
            <a:ext cx="219456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68880" y="40233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AEGIS (gated)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17720" y="4023360"/>
            <a:ext cx="146304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63440" y="40233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80760" y="4023360"/>
            <a:ext cx="1280160" cy="274320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4023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2920" y="4297680"/>
            <a:ext cx="19202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42976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Spatial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23160" y="4297680"/>
            <a:ext cx="21945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8880" y="429768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85.5  (on)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17720" y="4297680"/>
            <a:ext cx="14630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0" y="429768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80.5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080760" y="4297680"/>
            <a:ext cx="12801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126480" y="429768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+5.0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2920" y="4572000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8640" y="457200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Goal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23160" y="4572000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68880" y="457200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93.5  (on)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17720" y="457200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663440" y="45720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91.5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80760" y="457200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126480" y="457200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+2.0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2920" y="4846320"/>
            <a:ext cx="19202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484632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Object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23160" y="4846320"/>
            <a:ext cx="21945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68880" y="484632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97.5  (off≡base)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17720" y="4846320"/>
            <a:ext cx="14630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63440" y="484632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97.5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80760" y="4846320"/>
            <a:ext cx="12801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26480" y="484632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0.0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2920" y="5120640"/>
            <a:ext cx="19202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512064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Long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423160" y="5120640"/>
            <a:ext cx="21945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68880" y="512064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64.5  (off≡base)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17720" y="5120640"/>
            <a:ext cx="1463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63440" y="51206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64.5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80760" y="5120640"/>
            <a:ext cx="12801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26480" y="512064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0.0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5394960"/>
            <a:ext cx="19202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8640" y="53949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1820"/>
                </a:solidFill>
                <a:latin typeface="Calibri"/>
              </a:rPr>
              <a:t>Average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23160" y="5394960"/>
            <a:ext cx="21945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68880" y="5394960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85.25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17720" y="5394960"/>
            <a:ext cx="146304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63440" y="53949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51820"/>
                </a:solidFill>
                <a:latin typeface="Calibri"/>
              </a:rPr>
              <a:t>83.5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080760" y="5394960"/>
            <a:ext cx="1280160" cy="274320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1264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+1.75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38160" y="1417320"/>
            <a:ext cx="356616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138160" y="1417320"/>
            <a:ext cx="3566160" cy="310896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47888" y="1435608"/>
            <a:ext cx="3346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HEADLINE — gated average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6176" y="1801368"/>
            <a:ext cx="3310128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AEGIS  85.25   vs   base  83.5
+1.75 pp,  AEGIS ≥ base on EVERY suite.
Deployment protocol (chunked) Spatial: base 86.0 / AEGIS 87.5 (CI 82.2–91.4).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138160" y="3703320"/>
            <a:ext cx="3566160" cy="237744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138160" y="3703320"/>
            <a:ext cx="3566160" cy="31089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247888" y="3721608"/>
            <a:ext cx="334670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READ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66176" y="4087368"/>
            <a:ext cx="3310128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Identity-residual guarantee: at zero strength AEGIS ≡ base, exactly (same forward pass) → gating is provably safe, never an approximation.
Long/Object losses come from the modules being Spatial-overfit (trained on libero_spatial only); gating disengages them there. The principled fix — retrain the gate on all 4 suites so it disengages automatically — is the next step.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03 · CLEAN ROLL-OUTS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Baseline Fails / AEGIS Succeeds — Clean Roll-out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Same LIBERO-Spatial task, identical init-state. Verified outcomes (per-episode success flag). Press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4686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SmolVLA + TE   </a:t>
            </a:r>
            <a:r>
              <a:rPr sz="1100" b="1">
                <a:solidFill>
                  <a:srgbClr val="C0392B"/>
                </a:solidFill>
                <a:latin typeface="Calibri"/>
              </a:rPr>
              <a:t>✗ task failed (drop / mis-grasp)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5060" y="1554480"/>
            <a:ext cx="46863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AEGIS   </a:t>
            </a:r>
            <a:r>
              <a:rPr sz="1100" b="1">
                <a:solidFill>
                  <a:srgbClr val="1B9E4B"/>
                </a:solidFill>
                <a:latin typeface="Calibri"/>
              </a:rPr>
              <a:t>✓ task completed</a:t>
            </a:r>
          </a:p>
        </p:txBody>
      </p:sp>
      <p:pic>
        <p:nvPicPr>
          <p:cNvPr id="9" name="ep0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80160" y="1828800"/>
            <a:ext cx="4686300" cy="3657600"/>
          </a:xfrm>
          <a:prstGeom prst="rect">
            <a:avLst/>
          </a:prstGeom>
        </p:spPr>
      </p:pic>
      <p:pic>
        <p:nvPicPr>
          <p:cNvPr id="10" name="ep001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195060" y="1828800"/>
            <a:ext cx="4686300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280160" y="1828800"/>
            <a:ext cx="4686300" cy="3657600"/>
          </a:xfrm>
          <a:prstGeom prst="rect">
            <a:avLst/>
          </a:prstGeom>
          <a:noFill/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5060" y="1828800"/>
            <a:ext cx="4686300" cy="3657600"/>
          </a:xfrm>
          <a:prstGeom prst="rect">
            <a:avLst/>
          </a:prstGeom>
          <a:noFill/>
          <a:ln w="2540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5321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Even on clean input, the AEGIS modules cost nothing and the consensus + regularised actions complete tasks the open-loop baseline drops — consistent with the +5.0 pp Spatial clean 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04 ·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LIBERO-V Corruptions — AEGIS Wins Every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Spatial; both arms carry TE. Mean +14.1 pp; advantage grows with severity.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926080" cy="329184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Corruption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1554480" cy="329184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1732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base + 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417320"/>
            <a:ext cx="1371600" cy="329184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1280160" cy="329184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746504"/>
            <a:ext cx="29260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74650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Motion blur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746504"/>
            <a:ext cx="1554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74650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4.0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3480" y="1746504"/>
            <a:ext cx="13716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746504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50.0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746504"/>
            <a:ext cx="128016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746504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+46.0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075688"/>
            <a:ext cx="2926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075688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Gaussian noise σ=0.12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29000" y="2075688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07568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47.0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2075688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2075688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61.0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2075688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2075688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+14.0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404872"/>
            <a:ext cx="29260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404872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Lighting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29000" y="2404872"/>
            <a:ext cx="1554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2404872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75.0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80" y="2404872"/>
            <a:ext cx="13716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2404872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84.5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5080" y="2404872"/>
            <a:ext cx="128016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2404872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+9.5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734056"/>
            <a:ext cx="2926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734056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Viewpoint (moderate)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29000" y="2734056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2734056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11.0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83480" y="2734056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0" y="2734056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20.5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2734056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734056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+9.5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3063240"/>
            <a:ext cx="29260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063240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Texture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3063240"/>
            <a:ext cx="1554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0" y="3063240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82.0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3063240"/>
            <a:ext cx="13716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3063240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86.5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55080" y="3063240"/>
            <a:ext cx="128016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3063240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+4.5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3392424"/>
            <a:ext cx="29260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3392424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Viewpoint (extreme)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29000" y="3392424"/>
            <a:ext cx="1554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0" y="3392424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0.0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83480" y="3392424"/>
            <a:ext cx="1371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3392424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51820"/>
                </a:solidFill>
                <a:latin typeface="Calibri"/>
              </a:rPr>
              <a:t>1.0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55080" y="3392424"/>
            <a:ext cx="12801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0" y="3392424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+1.0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3721608"/>
            <a:ext cx="29260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721608"/>
            <a:ext cx="2834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Mean (all 6)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429000" y="3721608"/>
            <a:ext cx="155448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474720" y="3721608"/>
            <a:ext cx="14630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36.5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83480" y="3721608"/>
            <a:ext cx="137160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0" y="3721608"/>
            <a:ext cx="1280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50.6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55080" y="3721608"/>
            <a:ext cx="1280160" cy="329184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0" y="3721608"/>
            <a:ext cx="118872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9E4B"/>
                </a:solidFill>
                <a:latin typeface="Calibri"/>
              </a:rPr>
              <a:t>+14.1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589520" y="13716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Gaussian-noise degradation sweep: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1691640"/>
            <a:ext cx="914400" cy="29260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35240" y="169164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σ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03920" y="1691640"/>
            <a:ext cx="1188720" cy="29260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9640" y="169164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base+TE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92640" y="1691640"/>
            <a:ext cx="1097280" cy="29260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38360" y="1691640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89920" y="1691640"/>
            <a:ext cx="914400" cy="292608"/>
          </a:xfrm>
          <a:prstGeom prst="rect">
            <a:avLst/>
          </a:prstGeom>
          <a:solidFill>
            <a:srgbClr val="1F2A44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35640" y="169164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89520" y="1984248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635240" y="198424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0.05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1984248"/>
            <a:ext cx="118872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549640" y="1984248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66.0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92640" y="1984248"/>
            <a:ext cx="109728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38360" y="1984248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75.0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789920" y="1984248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835640" y="198424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+9.0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89520" y="2276856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35240" y="227685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0.12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2276856"/>
            <a:ext cx="1188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2276856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47.0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92640" y="2276856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38360" y="2276856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61.0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789920" y="2276856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835640" y="2276856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+14.0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589520" y="2569464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35240" y="256946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0.20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03920" y="2569464"/>
            <a:ext cx="118872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49640" y="2569464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22.0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692640" y="2569464"/>
            <a:ext cx="109728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738360" y="2569464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45.0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789920" y="2569464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835640" y="2569464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+23.0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89520" y="2862072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35240" y="28620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0.30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503920" y="2862072"/>
            <a:ext cx="1188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49640" y="2862072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392B"/>
                </a:solidFill>
                <a:latin typeface="Calibri"/>
              </a:rPr>
              <a:t>0.0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692640" y="2862072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738360" y="2862072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24.5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789920" y="2862072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835640" y="2862072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+24.5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589520" y="3154680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635240" y="315468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0.50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03920" y="3154680"/>
            <a:ext cx="118872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549640" y="3154680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692640" y="3154680"/>
            <a:ext cx="109728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738360" y="3154680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7.5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789920" y="3154680"/>
            <a:ext cx="914400" cy="292608"/>
          </a:xfrm>
          <a:prstGeom prst="rect">
            <a:avLst/>
          </a:prstGeom>
          <a:solidFill>
            <a:srgbClr val="F3F4F6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835640" y="3154680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+7.5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89520" y="344728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635240" y="344728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1.00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503920" y="3447288"/>
            <a:ext cx="11887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549640" y="3447288"/>
            <a:ext cx="1097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0.0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692640" y="344728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738360" y="3447288"/>
            <a:ext cx="1005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51820"/>
                </a:solidFill>
                <a:latin typeface="Calibri"/>
              </a:rPr>
              <a:t>9.5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789920" y="3447288"/>
            <a:ext cx="914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835640" y="3447288"/>
            <a:ext cx="822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B9E4B"/>
                </a:solidFill>
                <a:latin typeface="Calibri"/>
              </a:rPr>
              <a:t>+9.5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89520" y="3840480"/>
            <a:ext cx="4114800" cy="219456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89520" y="3840480"/>
            <a:ext cx="4114800" cy="310896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99248" y="3858768"/>
            <a:ext cx="389534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GRACEFUL-DEGRADATION SIGNATURE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717536" y="4224528"/>
            <a:ext cx="385876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51820"/>
                </a:solidFill>
                <a:latin typeface="Calibri"/>
              </a:rPr>
              <a:t>Δ peaks at +24.5 at σ=0.30 — base+TE completely DEAD (0/200), AEGIS still completes 24.5%.
Base flatlines at 0% for every σ≥0.30; AEGIS keeps operating. The advantage widens through the moderate-noise regime exactly as a robustness layer should.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02920" y="4572000"/>
            <a:ext cx="67665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Standout — motion blur: </a:t>
            </a:r>
            <a:r>
              <a:rPr sz="1200" b="0">
                <a:solidFill>
                  <a:srgbClr val="151820"/>
                </a:solidFill>
                <a:latin typeface="Calibri"/>
              </a:rPr>
              <a:t>base essentially cannot operate (4%); AEGIS retains 50% (+46 pp).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Wilson-95: </a:t>
            </a:r>
            <a:r>
              <a:rPr sz="1200" b="0">
                <a:solidFill>
                  <a:srgbClr val="151820"/>
                </a:solidFill>
                <a:latin typeface="Calibri"/>
              </a:rPr>
              <a:t>blur, lighting, noise, viewpoint-moderate are CI-separated wins; texture modest; viewpoint-extreme is the shared 'both-fail' degradation floor.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Object-offset BC probe (n=100): </a:t>
            </a:r>
            <a:r>
              <a:rPr sz="1200" b="0">
                <a:solidFill>
                  <a:srgbClr val="151820"/>
                </a:solidFill>
                <a:latin typeface="Calibri"/>
              </a:rPr>
              <a:t>3cm 72→78, 5cm 51→57 — graceful, +6.0 held → perception-conditioned, not replay.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05 · ROBUSTNESS ROLL-OUTS (1/2) — SENSOR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Sensor Axes — Blur · Noise · Lighting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Same task &amp; init-state per pair; verified per-episode outcomes. Press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Motion blur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10" name="ep00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920240"/>
            <a:ext cx="1828800" cy="3017520"/>
          </a:xfrm>
          <a:prstGeom prst="rect">
            <a:avLst/>
          </a:prstGeom>
        </p:spPr>
      </p:pic>
      <p:pic>
        <p:nvPicPr>
          <p:cNvPr id="11" name="ep00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40280" y="1920240"/>
            <a:ext cx="1828800" cy="3017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2004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Gaussian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17" name="ep000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160520" y="1920240"/>
            <a:ext cx="1828800" cy="3017520"/>
          </a:xfrm>
          <a:prstGeom prst="rect">
            <a:avLst/>
          </a:prstGeom>
        </p:spPr>
      </p:pic>
      <p:pic>
        <p:nvPicPr>
          <p:cNvPr id="18" name="ep001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080760" y="1920240"/>
            <a:ext cx="1828800" cy="30175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6052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Lighting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24" name="ep000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01000" y="1920240"/>
            <a:ext cx="1828800" cy="3017520"/>
          </a:xfrm>
          <a:prstGeom prst="rect">
            <a:avLst/>
          </a:prstGeom>
        </p:spPr>
      </p:pic>
      <p:pic>
        <p:nvPicPr>
          <p:cNvPr id="25" name="ep001.mp4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9921240" y="1920240"/>
            <a:ext cx="1828800" cy="30175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0100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Sensor-degradation axes are RASF + TE territory: </a:t>
            </a:r>
            <a:r>
              <a:rPr sz="1200" b="0">
                <a:solidFill>
                  <a:srgbClr val="151820"/>
                </a:solidFill>
                <a:latin typeface="Calibri"/>
              </a:rPr>
              <a:t>blur 4→50 (+46), noise σ=0.12 47→61 (+14), lighting 75→84.5 (+9.5). The baseline drops the task; AEGIS completes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05 · ROBUSTNESS ROLL-OUTS (2/2) —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Scene Axes — Texture · Viewpoint · Object-shift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Same task &amp; init-state per pair; verified per-episode outcomes. Press play.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Texture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10" name="ep001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0040" y="1920240"/>
            <a:ext cx="1828800" cy="3017520"/>
          </a:xfrm>
          <a:prstGeom prst="rect">
            <a:avLst/>
          </a:prstGeom>
        </p:spPr>
      </p:pic>
      <p:pic>
        <p:nvPicPr>
          <p:cNvPr id="11" name="ep000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240280" y="1920240"/>
            <a:ext cx="1828800" cy="30175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2004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Viewpoint (moderate)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17" name="ep000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160520" y="1920240"/>
            <a:ext cx="1828800" cy="3017520"/>
          </a:xfrm>
          <a:prstGeom prst="rect">
            <a:avLst/>
          </a:prstGeom>
        </p:spPr>
      </p:pic>
      <p:pic>
        <p:nvPicPr>
          <p:cNvPr id="18" name="ep000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6080760" y="1920240"/>
            <a:ext cx="1828800" cy="30175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6052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8076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51820"/>
                </a:solidFill>
                <a:latin typeface="Calibri"/>
              </a:rPr>
              <a:t>Object-offset 5 cm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C0392B"/>
                </a:solidFill>
                <a:latin typeface="Calibri"/>
              </a:rPr>
              <a:t>SmolVLA+TE 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64592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1B9E4B"/>
                </a:solidFill>
                <a:latin typeface="Calibri"/>
              </a:rPr>
              <a:t>AEGIS ✓</a:t>
            </a:r>
          </a:p>
        </p:txBody>
      </p:sp>
      <p:pic>
        <p:nvPicPr>
          <p:cNvPr id="24" name="ep000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8001000" y="1920240"/>
            <a:ext cx="1828800" cy="3017520"/>
          </a:xfrm>
          <a:prstGeom prst="rect">
            <a:avLst/>
          </a:prstGeom>
        </p:spPr>
      </p:pic>
      <p:pic>
        <p:nvPicPr>
          <p:cNvPr id="25" name="ep000.mp4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9921240" y="1920240"/>
            <a:ext cx="1828800" cy="30175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001000" y="1920240"/>
            <a:ext cx="1828800" cy="3017520"/>
          </a:xfrm>
          <a:prstGeom prst="rect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1920240"/>
            <a:ext cx="1828800" cy="3017520"/>
          </a:xfrm>
          <a:prstGeom prst="rect">
            <a:avLst/>
          </a:prstGeom>
          <a:noFill/>
          <a:ln w="19050">
            <a:solidFill>
              <a:srgbClr val="1B9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120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51820"/>
                </a:solidFill>
                <a:latin typeface="Calibri"/>
              </a:rPr>
              <a:t>Scene-shift axes are RIB territory: </a:t>
            </a:r>
            <a:r>
              <a:rPr sz="1200" b="0">
                <a:solidFill>
                  <a:srgbClr val="151820"/>
                </a:solidFill>
                <a:latin typeface="Calibri"/>
              </a:rPr>
              <a:t>texture 82→86.5, viewpoint-moderate 11→20.5 (+9.5), object-offset 5 cm 51→57 (+6.0). RIB localises the shift; the policy stays perception-conditioned rather than replaying a memorised trajectory.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06 ·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What We Have Done So Far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990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Dual-locus module, built &amp;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09928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RIB (perception, ~2.27M VIB @ connector) + RASF (action, DCT residual) + TE, all pass-through at init on a frozen SmolVLA-500M.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3990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Clean SR 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709928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4-suite n=200; per-suite gated average 85.25 vs base 83.5 (+1.75), AEGIS ≥ base on every suite; Spatial deployment 86.0→87.5.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04872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04872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802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Robustness headline 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7889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LIBERO-V, 6 corruption axes, n=200/axis: AEGIS wins all 6, mean +14.1, up to +46 on motion blur.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04872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04872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8" y="247802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Graceful-degradation curve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788920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Gaussian σ-sweep: Δ peaks +24.5 at σ=0.30 where base is dead (0%); base flatlines ≥0.30, AEGIS keeps operating.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83864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83864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557016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Behaviour-cloning probe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867912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Object-offset 3/5 cm: graceful degradation + constant +6.0 → perception-conditioned, not memorised replay.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483864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483864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557016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Verified qualitative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3867912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Side-by-side roll-outs across every axis with per-episode success flags (no cherry-picking).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62856"/>
            <a:ext cx="5532120" cy="960120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562856"/>
            <a:ext cx="91440" cy="960120"/>
          </a:xfrm>
          <a:prstGeom prst="rect">
            <a:avLst/>
          </a:prstGeom>
          <a:solidFill>
            <a:srgbClr val="1B9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63600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51820"/>
                </a:solidFill>
                <a:latin typeface="Calibri"/>
              </a:rPr>
              <a:t>✓  Identity-residual guarantee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946904"/>
            <a:ext cx="5212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Provable: module off ≡ base, exact same forward pass → clean SR cannot structurally degrade; gating is safe.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33271"/>
            <a:ext cx="12191695" cy="31750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5FD0"/>
                </a:solidFill>
                <a:latin typeface="Calibri"/>
              </a:rPr>
              <a:t>07 ·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51820"/>
                </a:solidFill>
                <a:latin typeface="Calibri"/>
              </a:rPr>
              <a:t>What Needs to Be Done — Next Two Weeks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41248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 establish the robustness contribution as principled and general.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417320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1453896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Retrain RIB + RASF on all 4 suites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Replace eval-only gating with a gate that learns to disengage automatically where modules don't help → principled, not hand-picked. Removes the Long/Object clean-SR losses.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93976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93976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093976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130552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Cross-suite corrupted evaluation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Run LIBERO-V corruptions on Object &amp; Goal (currently Spatial-only) to show robustness generalises beyond the modules' training distribution.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70632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70632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2770632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2807208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Close the reproduction gap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Both arms sit ~5–10 pp under paper clean SR (clearest on Spatial 80.5 vs 90). Pin down checkpoint/protocol so clean SR is paper-faithful.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47288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447288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3447288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2" y="3483864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Ablations for attribution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Per-locus isolation (RIB-only / RASF-only / TE-only) across axes so each axis's gain is attributed to the right mechanism.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23944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23944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4123944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2" y="416052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Statistical hardening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Multi-seed runs + Wilson/bootstrap CIs on every headline cell; confirm CI-separation holds beyond the single seed (42).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4800600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2" y="4837176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Cross-architecture port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Stand up the dual-locus recipe on a second VLA backbone (NanoVLA / GR00T N1.5) to show it is size- and backbone-agnostic.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77256"/>
            <a:ext cx="457200" cy="566928"/>
          </a:xfrm>
          <a:prstGeom prst="rect">
            <a:avLst/>
          </a:prstGeom>
          <a:solidFill>
            <a:srgbClr val="1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77256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477256"/>
            <a:ext cx="10698480" cy="566928"/>
          </a:xfrm>
          <a:prstGeom prst="rect">
            <a:avLst/>
          </a:prstGeom>
          <a:solidFill>
            <a:srgbClr val="F3F4F6"/>
          </a:solidFill>
          <a:ln w="12700">
            <a:solidFill>
              <a:srgbClr val="E0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70432" y="5513832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51820"/>
                </a:solidFill>
                <a:latin typeface="Calibri"/>
              </a:rPr>
              <a:t>Supervisor checkpoint  —  </a:t>
            </a:r>
            <a:r>
              <a:rPr sz="1100" b="0">
                <a:solidFill>
                  <a:srgbClr val="6B7280"/>
                </a:solidFill>
                <a:latin typeface="Calibri"/>
              </a:rPr>
              <a:t>Review the consolidated architecture + results with the supervisor; fold feedback into the gating-retrain and cross-suite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AEGIS = SmolVLA(frozen) + RIB + RASF + TE   ·   ISLab · CWNU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052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