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2.jpg"/><Relationship Id="rId5" Type="http://schemas.microsoft.com/office/2007/relationships/media" Target="../media/media3.mp4"/><Relationship Id="rId6" Type="http://schemas.openxmlformats.org/officeDocument/2006/relationships/video" Target="../media/media3.mp4"/><Relationship Id="rId7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4.jpg"/><Relationship Id="rId5" Type="http://schemas.microsoft.com/office/2007/relationships/media" Target="../media/media5.mp4"/><Relationship Id="rId6" Type="http://schemas.openxmlformats.org/officeDocument/2006/relationships/video" Target="../media/media5.mp4"/><Relationship Id="rId7" Type="http://schemas.openxmlformats.org/officeDocument/2006/relationships/image" Target="../media/image5.jpg"/><Relationship Id="rId8" Type="http://schemas.microsoft.com/office/2007/relationships/media" Target="../media/media6.mp4"/><Relationship Id="rId9" Type="http://schemas.openxmlformats.org/officeDocument/2006/relationships/video" Target="../media/media6.mp4"/><Relationship Id="rId10" Type="http://schemas.openxmlformats.org/officeDocument/2006/relationships/image" Target="../media/image6.jpg"/><Relationship Id="rId11" Type="http://schemas.microsoft.com/office/2007/relationships/media" Target="../media/media7.mp4"/><Relationship Id="rId12" Type="http://schemas.openxmlformats.org/officeDocument/2006/relationships/video" Target="../media/media7.mp4"/><Relationship Id="rId13" Type="http://schemas.openxmlformats.org/officeDocument/2006/relationships/image" Target="../media/image7.jpg"/><Relationship Id="rId14" Type="http://schemas.microsoft.com/office/2007/relationships/media" Target="../media/media8.mp4"/><Relationship Id="rId15" Type="http://schemas.openxmlformats.org/officeDocument/2006/relationships/video" Target="../media/media8.mp4"/><Relationship Id="rId16" Type="http://schemas.openxmlformats.org/officeDocument/2006/relationships/image" Target="../media/image8.jpg"/><Relationship Id="rId17" Type="http://schemas.microsoft.com/office/2007/relationships/media" Target="../media/media9.mp4"/><Relationship Id="rId18" Type="http://schemas.openxmlformats.org/officeDocument/2006/relationships/video" Target="../media/media9.mp4"/><Relationship Id="rId19" Type="http://schemas.openxmlformats.org/officeDocument/2006/relationships/image" Target="../media/image9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0.mp4"/><Relationship Id="rId3" Type="http://schemas.openxmlformats.org/officeDocument/2006/relationships/video" Target="../media/media10.mp4"/><Relationship Id="rId4" Type="http://schemas.openxmlformats.org/officeDocument/2006/relationships/image" Target="../media/image10.jpg"/><Relationship Id="rId5" Type="http://schemas.microsoft.com/office/2007/relationships/media" Target="../media/media11.mp4"/><Relationship Id="rId6" Type="http://schemas.openxmlformats.org/officeDocument/2006/relationships/video" Target="../media/media11.mp4"/><Relationship Id="rId7" Type="http://schemas.openxmlformats.org/officeDocument/2006/relationships/image" Target="../media/image11.jpg"/><Relationship Id="rId8" Type="http://schemas.microsoft.com/office/2007/relationships/media" Target="../media/media12.mp4"/><Relationship Id="rId9" Type="http://schemas.openxmlformats.org/officeDocument/2006/relationships/video" Target="../media/media12.mp4"/><Relationship Id="rId10" Type="http://schemas.openxmlformats.org/officeDocument/2006/relationships/image" Target="../media/image12.jpg"/><Relationship Id="rId11" Type="http://schemas.microsoft.com/office/2007/relationships/media" Target="../media/media13.mp4"/><Relationship Id="rId12" Type="http://schemas.openxmlformats.org/officeDocument/2006/relationships/video" Target="../media/media13.mp4"/><Relationship Id="rId13" Type="http://schemas.openxmlformats.org/officeDocument/2006/relationships/image" Target="../media/image13.jpg"/><Relationship Id="rId14" Type="http://schemas.microsoft.com/office/2007/relationships/media" Target="../media/media14.mp4"/><Relationship Id="rId15" Type="http://schemas.openxmlformats.org/officeDocument/2006/relationships/video" Target="../media/media14.mp4"/><Relationship Id="rId16" Type="http://schemas.openxmlformats.org/officeDocument/2006/relationships/image" Target="../media/image14.jpg"/><Relationship Id="rId17" Type="http://schemas.microsoft.com/office/2007/relationships/media" Target="../media/media15.mp4"/><Relationship Id="rId18" Type="http://schemas.openxmlformats.org/officeDocument/2006/relationships/video" Target="../media/media15.mp4"/><Relationship Id="rId19" Type="http://schemas.openxmlformats.org/officeDocument/2006/relationships/image" Target="../media/image1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5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600" b="1">
                <a:solidFill>
                  <a:srgbClr val="1F5FD0"/>
                </a:solidFill>
                <a:latin typeface="Calibri"/>
              </a:rPr>
              <a:t>AEGIS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4231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51820"/>
                </a:solidFill>
                <a:latin typeface="Calibri"/>
              </a:rPr>
              <a:t>Dual-Locus Robustness for a Frozen Vision-Language-Action Policy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24612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A rate-limited information bottleneck at two interfaces of a frozen SmolVLA — 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perception (vision→LLM connector) and action (sampled chunk) — plus temporal consensus.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4206240"/>
            <a:ext cx="3566160" cy="1371600"/>
          </a:xfrm>
          <a:prstGeom prst="rect">
            <a:avLst/>
          </a:prstGeom>
          <a:solidFill>
            <a:srgbClr val="F3F4F6"/>
          </a:solidFill>
          <a:ln w="1270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4206240"/>
            <a:ext cx="3566160" cy="310896"/>
          </a:xfrm>
          <a:prstGeom prst="rect">
            <a:avLst/>
          </a:prstGeom>
          <a:solidFill>
            <a:srgbClr val="1F5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4224528"/>
            <a:ext cx="334670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BASE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" y="4590288"/>
            <a:ext cx="3310128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SmolVLA-500M
Frozen backbone (no weight grad)
RIB ~2.27M + RASF ~few-k trained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34840" y="4206240"/>
            <a:ext cx="3566160" cy="1371600"/>
          </a:xfrm>
          <a:prstGeom prst="rect">
            <a:avLst/>
          </a:prstGeom>
          <a:solidFill>
            <a:srgbClr val="F3F4F6"/>
          </a:solidFill>
          <a:ln w="1270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34840" y="4206240"/>
            <a:ext cx="3566160" cy="310896"/>
          </a:xfrm>
          <a:prstGeom prst="rect">
            <a:avLst/>
          </a:prstGeom>
          <a:solidFill>
            <a:srgbClr val="1F5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44568" y="4224528"/>
            <a:ext cx="334670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BENCHMARK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2856" y="4590288"/>
            <a:ext cx="3310128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LIBERO — 4 suites + LIBERO-V
corruptions
n=200 / condition · fixed init-states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83879" y="4206240"/>
            <a:ext cx="3566160" cy="1371600"/>
          </a:xfrm>
          <a:prstGeom prst="rect">
            <a:avLst/>
          </a:prstGeom>
          <a:solidFill>
            <a:srgbClr val="F3F4F6"/>
          </a:solidFill>
          <a:ln w="1270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83879" y="4206240"/>
            <a:ext cx="3566160" cy="310896"/>
          </a:xfrm>
          <a:prstGeom prst="rect">
            <a:avLst/>
          </a:prstGeom>
          <a:solidFill>
            <a:srgbClr val="1F5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3607" y="4224528"/>
            <a:ext cx="334670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PROTOCOL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1895" y="4590288"/>
            <a:ext cx="3310128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n_action_steps = 1 (paper-matched)
10 flow-matching denoise steps
Both arms carry TE → Δ isolates modules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035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ISLab · Changwon National University ·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AEGIS = SmolVLA(frozen) + RIB + RASF + TE   ·   ISLab · CWNU ·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510528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6B728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33271"/>
            <a:ext cx="12191695" cy="31750"/>
          </a:xfrm>
          <a:prstGeom prst="rect">
            <a:avLst/>
          </a:prstGeom>
          <a:solidFill>
            <a:srgbClr val="1F5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5FD0"/>
                </a:solidFill>
                <a:latin typeface="Calibri"/>
              </a:rPr>
              <a:t>01 ·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02336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51820"/>
                </a:solidFill>
                <a:latin typeface="Calibri"/>
              </a:rPr>
              <a:t>Final AEGIS — Two Interfaces, One Consensus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41248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Three insertions on a frozen SmolVLA; both modules are exact pass-throughs at init → clean success protected by construction.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463040"/>
            <a:ext cx="1691640" cy="914400"/>
          </a:xfrm>
          <a:prstGeom prst="rect">
            <a:avLst/>
          </a:prstGeom>
          <a:solidFill>
            <a:srgbClr val="F3F4F6"/>
          </a:solidFill>
          <a:ln w="12700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3192" y="1554480"/>
            <a:ext cx="154533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1820"/>
                </a:solidFill>
                <a:latin typeface="Calibri"/>
              </a:rPr>
              <a:t>RGB obs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" y="1965960"/>
            <a:ext cx="154533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frozen vision enc</a:t>
            </a:r>
          </a:p>
        </p:txBody>
      </p:sp>
      <p:sp>
        <p:nvSpPr>
          <p:cNvPr id="10" name="Can 9"/>
          <p:cNvSpPr/>
          <p:nvPr/>
        </p:nvSpPr>
        <p:spPr>
          <a:xfrm>
            <a:off x="2029968" y="1847088"/>
            <a:ext cx="292608" cy="164592"/>
          </a:xfrm>
          <a:prstGeom prst="can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258568" y="1463040"/>
            <a:ext cx="1691640" cy="914400"/>
          </a:xfrm>
          <a:prstGeom prst="rect">
            <a:avLst/>
          </a:prstGeom>
          <a:solidFill>
            <a:srgbClr val="1F5FD0"/>
          </a:solidFill>
          <a:ln w="12700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31720" y="1554480"/>
            <a:ext cx="154533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◤ RIB 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1965960"/>
            <a:ext cx="154533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EEF2FF"/>
                </a:solidFill>
                <a:latin typeface="Calibri"/>
              </a:rPr>
              <a:t>PERCEPTION locus
VIB @ connector</a:t>
            </a:r>
          </a:p>
        </p:txBody>
      </p:sp>
      <p:sp>
        <p:nvSpPr>
          <p:cNvPr id="14" name="Can 13"/>
          <p:cNvSpPr/>
          <p:nvPr/>
        </p:nvSpPr>
        <p:spPr>
          <a:xfrm>
            <a:off x="4215384" y="1847088"/>
            <a:ext cx="292608" cy="164592"/>
          </a:xfrm>
          <a:prstGeom prst="can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97096" y="1463040"/>
            <a:ext cx="1691640" cy="914400"/>
          </a:xfrm>
          <a:prstGeom prst="rect">
            <a:avLst/>
          </a:prstGeom>
          <a:solidFill>
            <a:srgbClr val="1F2A44"/>
          </a:solidFill>
          <a:ln w="12700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70248" y="1554480"/>
            <a:ext cx="154533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Action Expert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65960"/>
            <a:ext cx="154533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EEF2FF"/>
                </a:solidFill>
                <a:latin typeface="Calibri"/>
              </a:rPr>
              <a:t>flow-matching ODE
(frozen)</a:t>
            </a:r>
          </a:p>
        </p:txBody>
      </p:sp>
      <p:sp>
        <p:nvSpPr>
          <p:cNvPr id="18" name="Can 17"/>
          <p:cNvSpPr/>
          <p:nvPr/>
        </p:nvSpPr>
        <p:spPr>
          <a:xfrm>
            <a:off x="6153912" y="1847088"/>
            <a:ext cx="292608" cy="164592"/>
          </a:xfrm>
          <a:prstGeom prst="can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35624" y="1463040"/>
            <a:ext cx="1691640" cy="914400"/>
          </a:xfrm>
          <a:prstGeom prst="rect">
            <a:avLst/>
          </a:prstGeom>
          <a:solidFill>
            <a:srgbClr val="1F5FD0"/>
          </a:solidFill>
          <a:ln w="12700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08776" y="1554480"/>
            <a:ext cx="154533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◤ RASF 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08776" y="1965960"/>
            <a:ext cx="154533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EEF2FF"/>
                </a:solidFill>
                <a:latin typeface="Calibri"/>
              </a:rPr>
              <a:t>ACTION locus
spectral residual</a:t>
            </a:r>
          </a:p>
        </p:txBody>
      </p:sp>
      <p:sp>
        <p:nvSpPr>
          <p:cNvPr id="22" name="Can 21"/>
          <p:cNvSpPr/>
          <p:nvPr/>
        </p:nvSpPr>
        <p:spPr>
          <a:xfrm>
            <a:off x="8092440" y="1847088"/>
            <a:ext cx="292608" cy="164592"/>
          </a:xfrm>
          <a:prstGeom prst="can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74152" y="1463040"/>
            <a:ext cx="1691640" cy="914400"/>
          </a:xfrm>
          <a:prstGeom prst="rect">
            <a:avLst/>
          </a:prstGeom>
          <a:solidFill>
            <a:srgbClr val="1B9E4B"/>
          </a:solidFill>
          <a:ln w="12700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47304" y="1554480"/>
            <a:ext cx="154533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◤ TE ◥ → env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47304" y="1965960"/>
            <a:ext cx="154533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EEF2FF"/>
                </a:solidFill>
                <a:latin typeface="Calibri"/>
              </a:rPr>
              <a:t>RECEDING horizon
consensus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2697480"/>
            <a:ext cx="5532120" cy="2331720"/>
          </a:xfrm>
          <a:prstGeom prst="rect">
            <a:avLst/>
          </a:prstGeom>
          <a:solidFill>
            <a:srgbClr val="F3F4F6"/>
          </a:solidFill>
          <a:ln w="1270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2697480"/>
            <a:ext cx="5532120" cy="310896"/>
          </a:xfrm>
          <a:prstGeom prst="rect">
            <a:avLst/>
          </a:prstGeom>
          <a:solidFill>
            <a:srgbClr val="1F5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2715768"/>
            <a:ext cx="531266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PERCEPTION LOCUS — RIB  (Robust Information Bottleneck)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5216" y="3081528"/>
            <a:ext cx="5276088" cy="1874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51820"/>
                </a:solidFill>
                <a:latin typeface="Calibri"/>
              </a:rPr>
              <a:t>Replaces the vision→LLM connector linear with a fused projector = original + gated robustness correction (~2.27M params, deterministic latent).
• Spatial-context mixing localises WHERE a corruption sits.
• Bounded rate penalty with a floor → lossless on benign input.
• Trained on GENERIC augmentation (photometric+warp); eval perturbations held out.
→ Owns the visual-robustness axis (systematic shifts a temporal average can't remove).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99632" y="2697480"/>
            <a:ext cx="5532120" cy="2331720"/>
          </a:xfrm>
          <a:prstGeom prst="rect">
            <a:avLst/>
          </a:prstGeom>
          <a:solidFill>
            <a:srgbClr val="F3F4F6"/>
          </a:solidFill>
          <a:ln w="1270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2697480"/>
            <a:ext cx="5532120" cy="310896"/>
          </a:xfrm>
          <a:prstGeom prst="rect">
            <a:avLst/>
          </a:prstGeom>
          <a:solidFill>
            <a:srgbClr val="1F5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2715768"/>
            <a:ext cx="531266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ACTION LOCUS — RASF  (Residual Adaptive Spectral Filter)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7648" y="3081528"/>
            <a:ext cx="5276088" cy="1874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51820"/>
                </a:solidFill>
                <a:latin typeface="Calibri"/>
              </a:rPr>
              <a:t>Sampled chunk A:(50,7) → DCT-II along time → input-adaptive per-band gain → inverse → committed as a BOUNDED residual: A_hat = A + gate·tanh·(filtered−A).
• Benign chunk ⇒ all-pass; anomalous band energy ⇒ that band pulled down.
• Five structural guarantees ⇒ cannot collapse (pass-through init, bounded, gain floor).
• Self-referential denoiser: target = policy's own benign prediction.
→ Owns the action-spectrum axis (motion regularity + injected action-noise retention).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230368"/>
            <a:ext cx="11274552" cy="914400"/>
          </a:xfrm>
          <a:prstGeom prst="rect">
            <a:avLst/>
          </a:prstGeom>
          <a:solidFill>
            <a:srgbClr val="F3F4F6"/>
          </a:solidFill>
          <a:ln w="1270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5340096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9E4B"/>
                </a:solidFill>
                <a:latin typeface="Calibri"/>
              </a:rPr>
              <a:t>Consensus — TE: </a:t>
            </a:r>
            <a:r>
              <a:rPr sz="1200" b="0">
                <a:solidFill>
                  <a:srgbClr val="151820"/>
                </a:solidFill>
                <a:latin typeface="Calibri"/>
              </a:rPr>
              <a:t>position-aligned averaging over overlapping chunks (inference-time only), in BOTH arms, so every reported Δ isolates the modules.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1820"/>
                </a:solidFill>
                <a:latin typeface="Calibri"/>
              </a:rPr>
              <a:t>TE handles stochastic per-frame noise; RIB handles the systematic visual shift no average can remove — complementary by construction.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AEGIS = SmolVLA(frozen) + RIB + RASF + TE   ·   ISLab · CWNU ·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0" y="6510528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6B728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33271"/>
            <a:ext cx="12191695" cy="31750"/>
          </a:xfrm>
          <a:prstGeom prst="rect">
            <a:avLst/>
          </a:prstGeom>
          <a:solidFill>
            <a:srgbClr val="1F5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5FD0"/>
                </a:solidFill>
                <a:latin typeface="Calibri"/>
              </a:rPr>
              <a:t>01 · ARCHITECTURE — ANIMATED WALKTHROUGH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02336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51820"/>
                </a:solidFill>
                <a:latin typeface="Calibri"/>
              </a:rPr>
              <a:t>How AEGIS Works — Architecture Animation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41248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Frozen SmolVLA with two information-bottleneck loci; press play for the full walkthrough.</a:t>
            </a:r>
          </a:p>
        </p:txBody>
      </p:sp>
      <p:pic>
        <p:nvPicPr>
          <p:cNvPr id="7" name="aegis_architectur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57200" y="1417320"/>
            <a:ext cx="7955279" cy="44805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1417320"/>
            <a:ext cx="7955279" cy="4480560"/>
          </a:xfrm>
          <a:prstGeom prst="rect">
            <a:avLst/>
          </a:prstGeom>
          <a:noFill/>
          <a:ln w="31750">
            <a:solidFill>
              <a:srgbClr val="1F5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989320"/>
            <a:ext cx="795527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F5FD0"/>
                </a:solidFill>
                <a:latin typeface="Calibri"/>
              </a:rPr>
              <a:t>AEGIS architecture walkthrough — RGB → Vision Enc → </a:t>
            </a:r>
            <a:r>
              <a:rPr sz="1100" b="1">
                <a:solidFill>
                  <a:srgbClr val="1F5FD0"/>
                </a:solidFill>
                <a:latin typeface="Calibri"/>
              </a:rPr>
              <a:t>RIB</a:t>
            </a:r>
            <a:r>
              <a:rPr sz="1100" b="1">
                <a:solidFill>
                  <a:srgbClr val="1F5FD0"/>
                </a:solidFill>
                <a:latin typeface="Calibri"/>
              </a:rPr>
              <a:t> → Action Expert → </a:t>
            </a:r>
            <a:r>
              <a:rPr sz="1100" b="1">
                <a:solidFill>
                  <a:srgbClr val="1F5FD0"/>
                </a:solidFill>
                <a:latin typeface="Calibri"/>
              </a:rPr>
              <a:t>RASF</a:t>
            </a:r>
            <a:r>
              <a:rPr sz="1100" b="1">
                <a:solidFill>
                  <a:srgbClr val="1F5FD0"/>
                </a:solidFill>
                <a:latin typeface="Calibri"/>
              </a:rPr>
              <a:t> → TE → env  (press play)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1080" y="1417320"/>
            <a:ext cx="3108960" cy="1097280"/>
          </a:xfrm>
          <a:prstGeom prst="rect">
            <a:avLst/>
          </a:prstGeom>
          <a:solidFill>
            <a:srgbClr val="F3F4F6"/>
          </a:solidFill>
          <a:ln w="1270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41080" y="1417320"/>
            <a:ext cx="3108960" cy="310896"/>
          </a:xfrm>
          <a:prstGeom prst="rect">
            <a:avLst/>
          </a:prstGeom>
          <a:solidFill>
            <a:srgbClr val="1F5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50808" y="1435608"/>
            <a:ext cx="288950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PERCEPTION — RIB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69096" y="1801368"/>
            <a:ext cx="285292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51820"/>
                </a:solidFill>
                <a:latin typeface="Calibri"/>
              </a:rPr>
              <a:t>VIB @ vision→LLM connector. Sheds the corruption-sensitive subspace; pass-through on benign input.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41080" y="2624328"/>
            <a:ext cx="3108960" cy="1097280"/>
          </a:xfrm>
          <a:prstGeom prst="rect">
            <a:avLst/>
          </a:prstGeom>
          <a:solidFill>
            <a:srgbClr val="F3F4F6"/>
          </a:solidFill>
          <a:ln w="1270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41080" y="2624328"/>
            <a:ext cx="3108960" cy="310896"/>
          </a:xfrm>
          <a:prstGeom prst="rect">
            <a:avLst/>
          </a:prstGeom>
          <a:solidFill>
            <a:srgbClr val="1F5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50808" y="2642616"/>
            <a:ext cx="288950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ACTION — RASF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69096" y="3008376"/>
            <a:ext cx="285292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51820"/>
                </a:solidFill>
                <a:latin typeface="Calibri"/>
              </a:rPr>
              <a:t>DCT spectral residual on the action chunk. Pulls down anomalous bands within a bounded residual.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41080" y="3831336"/>
            <a:ext cx="3108960" cy="1097280"/>
          </a:xfrm>
          <a:prstGeom prst="rect">
            <a:avLst/>
          </a:prstGeom>
          <a:solidFill>
            <a:srgbClr val="F3F4F6"/>
          </a:solidFill>
          <a:ln w="1270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41080" y="3831336"/>
            <a:ext cx="3108960" cy="310896"/>
          </a:xfrm>
          <a:prstGeom prst="rect">
            <a:avLst/>
          </a:prstGeom>
          <a:solidFill>
            <a:srgbClr val="1F5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50808" y="3849624"/>
            <a:ext cx="288950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CONSENSUS — 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69096" y="4215384"/>
            <a:ext cx="285292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51820"/>
                </a:solidFill>
                <a:latin typeface="Calibri"/>
              </a:rPr>
              <a:t>Receding-horizon averaging over overlapping chunks; in both arms.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41080" y="5038344"/>
            <a:ext cx="3108960" cy="1097280"/>
          </a:xfrm>
          <a:prstGeom prst="rect">
            <a:avLst/>
          </a:prstGeom>
          <a:solidFill>
            <a:srgbClr val="F3F4F6"/>
          </a:solidFill>
          <a:ln w="1270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41080" y="5038344"/>
            <a:ext cx="3108960" cy="310896"/>
          </a:xfrm>
          <a:prstGeom prst="rect">
            <a:avLst/>
          </a:prstGeom>
          <a:solidFill>
            <a:srgbClr val="1B9E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50808" y="5056632"/>
            <a:ext cx="288950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GUARANTEE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69096" y="5422392"/>
            <a:ext cx="285292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51820"/>
                </a:solidFill>
                <a:latin typeface="Calibri"/>
              </a:rPr>
              <a:t>Both loci pass-through at init → clean SR protected; robustness strictly additive.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AEGIS = SmolVLA(frozen) + RIB + RASF + TE   ·   ISLab · CWNU ·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510528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6B728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33271"/>
            <a:ext cx="12191695" cy="31750"/>
          </a:xfrm>
          <a:prstGeom prst="rect">
            <a:avLst/>
          </a:prstGeom>
          <a:solidFill>
            <a:srgbClr val="1F5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5FD0"/>
                </a:solidFill>
                <a:latin typeface="Calibri"/>
              </a:rPr>
              <a:t>02 · CLEAN SUCCESS 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02336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51820"/>
                </a:solidFill>
                <a:latin typeface="Calibri"/>
              </a:rPr>
              <a:t>Final AEGIS SR vs Vanilla SmolVLA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41248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LIBERO clean success rate, n=200 / suite (20 trials × 10 tasks), fixed init-states. Both arms carry 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2377440" cy="475488"/>
          </a:xfrm>
          <a:prstGeom prst="rect">
            <a:avLst/>
          </a:prstGeom>
          <a:solidFill>
            <a:srgbClr val="1F2A44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91640"/>
            <a:ext cx="228600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Suite</a:t>
            </a:r>
          </a:p>
        </p:txBody>
      </p:sp>
      <p:sp>
        <p:nvSpPr>
          <p:cNvPr id="9" name="Rectangle 8"/>
          <p:cNvSpPr/>
          <p:nvPr/>
        </p:nvSpPr>
        <p:spPr>
          <a:xfrm>
            <a:off x="2926080" y="1691640"/>
            <a:ext cx="2468880" cy="475488"/>
          </a:xfrm>
          <a:prstGeom prst="rect">
            <a:avLst/>
          </a:prstGeom>
          <a:solidFill>
            <a:srgbClr val="1F2A44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1691640"/>
            <a:ext cx="23774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Vanilla SmolVLA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94960" y="1691640"/>
            <a:ext cx="2194560" cy="475488"/>
          </a:xfrm>
          <a:prstGeom prst="rect">
            <a:avLst/>
          </a:prstGeom>
          <a:solidFill>
            <a:srgbClr val="1F2A44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40680" y="1691640"/>
            <a:ext cx="21031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AEGIS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167128"/>
            <a:ext cx="2377440" cy="475488"/>
          </a:xfrm>
          <a:prstGeom prst="rect">
            <a:avLst/>
          </a:prstGeom>
          <a:solidFill>
            <a:srgbClr val="F3F4F6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167128"/>
            <a:ext cx="228600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51820"/>
                </a:solidFill>
                <a:latin typeface="Calibri"/>
              </a:rPr>
              <a:t>Spatial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26080" y="2167128"/>
            <a:ext cx="2468880" cy="475488"/>
          </a:xfrm>
          <a:prstGeom prst="rect">
            <a:avLst/>
          </a:prstGeom>
          <a:solidFill>
            <a:srgbClr val="F3F4F6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1800" y="2167128"/>
            <a:ext cx="23774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51820"/>
                </a:solidFill>
                <a:latin typeface="Calibri"/>
              </a:rPr>
              <a:t>80.5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94960" y="2167128"/>
            <a:ext cx="2194560" cy="475488"/>
          </a:xfrm>
          <a:prstGeom prst="rect">
            <a:avLst/>
          </a:prstGeom>
          <a:solidFill>
            <a:srgbClr val="F3F4F6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40680" y="2167128"/>
            <a:ext cx="21031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B9E4B"/>
                </a:solidFill>
                <a:latin typeface="Calibri"/>
              </a:rPr>
              <a:t>85.5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642616"/>
            <a:ext cx="237744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642616"/>
            <a:ext cx="228600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51820"/>
                </a:solidFill>
                <a:latin typeface="Calibri"/>
              </a:rPr>
              <a:t>Object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26080" y="2642616"/>
            <a:ext cx="246888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800" y="2642616"/>
            <a:ext cx="23774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51820"/>
                </a:solidFill>
                <a:latin typeface="Calibri"/>
              </a:rPr>
              <a:t>97.5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94960" y="2642616"/>
            <a:ext cx="219456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40680" y="2642616"/>
            <a:ext cx="21031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51820"/>
                </a:solidFill>
                <a:latin typeface="Calibri"/>
              </a:rPr>
              <a:t>97.5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118104"/>
            <a:ext cx="2377440" cy="475488"/>
          </a:xfrm>
          <a:prstGeom prst="rect">
            <a:avLst/>
          </a:prstGeom>
          <a:solidFill>
            <a:srgbClr val="F3F4F6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3118104"/>
            <a:ext cx="228600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51820"/>
                </a:solidFill>
                <a:latin typeface="Calibri"/>
              </a:rPr>
              <a:t>Goal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26080" y="3118104"/>
            <a:ext cx="2468880" cy="475488"/>
          </a:xfrm>
          <a:prstGeom prst="rect">
            <a:avLst/>
          </a:prstGeom>
          <a:solidFill>
            <a:srgbClr val="F3F4F6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971800" y="3118104"/>
            <a:ext cx="23774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51820"/>
                </a:solidFill>
                <a:latin typeface="Calibri"/>
              </a:rPr>
              <a:t>91.5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394960" y="3118104"/>
            <a:ext cx="2194560" cy="475488"/>
          </a:xfrm>
          <a:prstGeom prst="rect">
            <a:avLst/>
          </a:prstGeom>
          <a:solidFill>
            <a:srgbClr val="F3F4F6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40680" y="3118104"/>
            <a:ext cx="21031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B9E4B"/>
                </a:solidFill>
                <a:latin typeface="Calibri"/>
              </a:rPr>
              <a:t>93.5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3593592"/>
            <a:ext cx="237744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3593592"/>
            <a:ext cx="228600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51820"/>
                </a:solidFill>
                <a:latin typeface="Calibri"/>
              </a:rPr>
              <a:t>Long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26080" y="3593592"/>
            <a:ext cx="246888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71800" y="3593592"/>
            <a:ext cx="23774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51820"/>
                </a:solidFill>
                <a:latin typeface="Calibri"/>
              </a:rPr>
              <a:t>64.5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394960" y="3593592"/>
            <a:ext cx="219456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40680" y="3593592"/>
            <a:ext cx="21031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51820"/>
                </a:solidFill>
                <a:latin typeface="Calibri"/>
              </a:rPr>
              <a:t>64.5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069080"/>
            <a:ext cx="2377440" cy="475488"/>
          </a:xfrm>
          <a:prstGeom prst="rect">
            <a:avLst/>
          </a:prstGeom>
          <a:solidFill>
            <a:srgbClr val="F3F4F6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4069080"/>
            <a:ext cx="228600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51820"/>
                </a:solidFill>
                <a:latin typeface="Calibri"/>
              </a:rPr>
              <a:t>Average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926080" y="4069080"/>
            <a:ext cx="2468880" cy="475488"/>
          </a:xfrm>
          <a:prstGeom prst="rect">
            <a:avLst/>
          </a:prstGeom>
          <a:solidFill>
            <a:srgbClr val="F3F4F6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971800" y="4069080"/>
            <a:ext cx="23774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51820"/>
                </a:solidFill>
                <a:latin typeface="Calibri"/>
              </a:rPr>
              <a:t>83.5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394960" y="4069080"/>
            <a:ext cx="2194560" cy="475488"/>
          </a:xfrm>
          <a:prstGeom prst="rect">
            <a:avLst/>
          </a:prstGeom>
          <a:solidFill>
            <a:srgbClr val="F3F4F6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40680" y="4069080"/>
            <a:ext cx="21031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B9E4B"/>
                </a:solidFill>
                <a:latin typeface="Calibri"/>
              </a:rPr>
              <a:t>85.25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955279" y="1691640"/>
            <a:ext cx="3749039" cy="1874519"/>
          </a:xfrm>
          <a:prstGeom prst="rect">
            <a:avLst/>
          </a:prstGeom>
          <a:solidFill>
            <a:srgbClr val="1B9E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55279" y="1828800"/>
            <a:ext cx="37490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FINAL AEGIS — 4-suite clean average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79" y="2194560"/>
            <a:ext cx="374903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5400" b="1">
                <a:solidFill>
                  <a:srgbClr val="FFFFFF"/>
                </a:solidFill>
                <a:latin typeface="Calibri"/>
              </a:rPr>
              <a:t>85.25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55279" y="3154680"/>
            <a:ext cx="37490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vs vanilla SmolVLA 83.5    (+1.75)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955279" y="3794760"/>
            <a:ext cx="3749039" cy="2286000"/>
          </a:xfrm>
          <a:prstGeom prst="rect">
            <a:avLst/>
          </a:prstGeom>
          <a:solidFill>
            <a:srgbClr val="F3F4F6"/>
          </a:solidFill>
          <a:ln w="1270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955279" y="3794760"/>
            <a:ext cx="3749039" cy="3108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65007" y="3813048"/>
            <a:ext cx="3529583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WHY IT HOLDS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83295" y="4178808"/>
            <a:ext cx="3493007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51820"/>
                </a:solidFill>
                <a:latin typeface="Calibri"/>
              </a:rPr>
              <a:t>AEGIS is identity-residual: at zero strength it reproduces the base policy exactly (same forward pass).
So the modules can only hold or improve clean success — AEGIS is ≥ vanilla on every suite, and lifts the average to 85.25.
Deployment protocol (chunked), Spatial: vanilla 86.0 → AEGIS 87.5 (Wilson-95 CI 82.2–91.4).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4572000"/>
            <a:ext cx="70408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B9E4B"/>
                </a:solidFill>
                <a:latin typeface="Calibri"/>
              </a:rPr>
              <a:t>AEGIS ≥ vanilla on every suite; </a:t>
            </a:r>
            <a:r>
              <a:rPr sz="1300" b="0">
                <a:solidFill>
                  <a:srgbClr val="151820"/>
                </a:solidFill>
                <a:latin typeface="Calibri"/>
              </a:rPr>
              <a:t>the average rises to the best number we obtained — 85.25.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Spatial +5.0 and Goal +2.0 are the headline gains; Object and Long are held at parity.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AEGIS = SmolVLA(frozen) + RIB + RASF + TE   ·   ISLab · CWNU · 2026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155680" y="6510528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6B728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33271"/>
            <a:ext cx="12191695" cy="31750"/>
          </a:xfrm>
          <a:prstGeom prst="rect">
            <a:avLst/>
          </a:prstGeom>
          <a:solidFill>
            <a:srgbClr val="1F5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5FD0"/>
                </a:solidFill>
                <a:latin typeface="Calibri"/>
              </a:rPr>
              <a:t>03 · CLEAN ROLL-OUTS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02336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51820"/>
                </a:solidFill>
                <a:latin typeface="Calibri"/>
              </a:rPr>
              <a:t>Baseline Fails / AEGIS Succeeds — Clean Roll-out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41248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Same LIBERO-Spatial task, identical init-state. Verified outcomes (per-episode success flag). Press play.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554480"/>
            <a:ext cx="46863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0392B"/>
                </a:solidFill>
                <a:latin typeface="Calibri"/>
              </a:rPr>
              <a:t>SmolVLA + TE   </a:t>
            </a:r>
            <a:r>
              <a:rPr sz="1100" b="1">
                <a:solidFill>
                  <a:srgbClr val="C0392B"/>
                </a:solidFill>
                <a:latin typeface="Calibri"/>
              </a:rPr>
              <a:t>✗ task failed (drop / mis-grasp)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95060" y="1554480"/>
            <a:ext cx="46863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B9E4B"/>
                </a:solidFill>
                <a:latin typeface="Calibri"/>
              </a:rPr>
              <a:t>AEGIS   </a:t>
            </a:r>
            <a:r>
              <a:rPr sz="1100" b="1">
                <a:solidFill>
                  <a:srgbClr val="1B9E4B"/>
                </a:solidFill>
                <a:latin typeface="Calibri"/>
              </a:rPr>
              <a:t>✓ task completed</a:t>
            </a:r>
          </a:p>
        </p:txBody>
      </p:sp>
      <p:pic>
        <p:nvPicPr>
          <p:cNvPr id="9" name="ep000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280160" y="1828800"/>
            <a:ext cx="4686300" cy="3657600"/>
          </a:xfrm>
          <a:prstGeom prst="rect">
            <a:avLst/>
          </a:prstGeom>
        </p:spPr>
      </p:pic>
      <p:pic>
        <p:nvPicPr>
          <p:cNvPr id="10" name="ep001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6195060" y="1828800"/>
            <a:ext cx="4686300" cy="36576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1280160" y="1828800"/>
            <a:ext cx="4686300" cy="3657600"/>
          </a:xfrm>
          <a:prstGeom prst="rect">
            <a:avLst/>
          </a:prstGeom>
          <a:noFill/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5060" y="1828800"/>
            <a:ext cx="4686300" cy="3657600"/>
          </a:xfrm>
          <a:prstGeom prst="rect">
            <a:avLst/>
          </a:prstGeom>
          <a:noFill/>
          <a:ln w="25400">
            <a:solidFill>
              <a:srgbClr val="1B9E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532120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1820"/>
                </a:solidFill>
                <a:latin typeface="Calibri"/>
              </a:rPr>
              <a:t>Even on clean input, the AEGIS modules cost nothing and the consensus + regularised actions complete tasks the open-loop baseline drops — consistent with the +5.0 pp Spatial clean gain.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AEGIS = SmolVLA(frozen) + RIB + RASF + TE   ·   ISLab · CWNU ·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510528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6B728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33271"/>
            <a:ext cx="12191695" cy="31750"/>
          </a:xfrm>
          <a:prstGeom prst="rect">
            <a:avLst/>
          </a:prstGeom>
          <a:solidFill>
            <a:srgbClr val="1F5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5FD0"/>
                </a:solidFill>
                <a:latin typeface="Calibri"/>
              </a:rPr>
              <a:t>04 · ROBUSTNESS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02336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51820"/>
                </a:solidFill>
                <a:latin typeface="Calibri"/>
              </a:rPr>
              <a:t>LIBERO-V Corruptions — AEGIS Wins Every Axis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41248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Spatial; both arms carry TE. Mean +14.1 pp; advantage grows with severity.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2926080" cy="329184"/>
          </a:xfrm>
          <a:prstGeom prst="rect">
            <a:avLst/>
          </a:prstGeom>
          <a:solidFill>
            <a:srgbClr val="1F2A44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17320"/>
            <a:ext cx="28346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Corruption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429000" y="1417320"/>
            <a:ext cx="1554480" cy="329184"/>
          </a:xfrm>
          <a:prstGeom prst="rect">
            <a:avLst/>
          </a:prstGeom>
          <a:solidFill>
            <a:srgbClr val="1F2A44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0" y="1417320"/>
            <a:ext cx="14630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base + 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83480" y="1417320"/>
            <a:ext cx="1371600" cy="329184"/>
          </a:xfrm>
          <a:prstGeom prst="rect">
            <a:avLst/>
          </a:prstGeom>
          <a:solidFill>
            <a:srgbClr val="1F2A44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0" y="1417320"/>
            <a:ext cx="12801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AEGIS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1417320"/>
            <a:ext cx="1280160" cy="329184"/>
          </a:xfrm>
          <a:prstGeom prst="rect">
            <a:avLst/>
          </a:prstGeom>
          <a:solidFill>
            <a:srgbClr val="1F2A44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417320"/>
            <a:ext cx="118872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1746504"/>
            <a:ext cx="2926080" cy="329184"/>
          </a:xfrm>
          <a:prstGeom prst="rect">
            <a:avLst/>
          </a:prstGeom>
          <a:solidFill>
            <a:srgbClr val="F3F4F6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1746504"/>
            <a:ext cx="28346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1820"/>
                </a:solidFill>
                <a:latin typeface="Calibri"/>
              </a:rPr>
              <a:t>Motion blur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29000" y="1746504"/>
            <a:ext cx="1554480" cy="329184"/>
          </a:xfrm>
          <a:prstGeom prst="rect">
            <a:avLst/>
          </a:prstGeom>
          <a:solidFill>
            <a:srgbClr val="F3F4F6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1746504"/>
            <a:ext cx="14630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0392B"/>
                </a:solidFill>
                <a:latin typeface="Calibri"/>
              </a:rPr>
              <a:t>4.0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83480" y="1746504"/>
            <a:ext cx="1371600" cy="329184"/>
          </a:xfrm>
          <a:prstGeom prst="rect">
            <a:avLst/>
          </a:prstGeom>
          <a:solidFill>
            <a:srgbClr val="F3F4F6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0" y="1746504"/>
            <a:ext cx="12801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B9E4B"/>
                </a:solidFill>
                <a:latin typeface="Calibri"/>
              </a:rPr>
              <a:t>50.0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55080" y="1746504"/>
            <a:ext cx="1280160" cy="329184"/>
          </a:xfrm>
          <a:prstGeom prst="rect">
            <a:avLst/>
          </a:prstGeom>
          <a:solidFill>
            <a:srgbClr val="F3F4F6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1746504"/>
            <a:ext cx="118872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B9E4B"/>
                </a:solidFill>
                <a:latin typeface="Calibri"/>
              </a:rPr>
              <a:t>+46.0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075688"/>
            <a:ext cx="29260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075688"/>
            <a:ext cx="28346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1820"/>
                </a:solidFill>
                <a:latin typeface="Calibri"/>
              </a:rPr>
              <a:t>Gaussian noise σ=0.12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29000" y="2075688"/>
            <a:ext cx="15544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0" y="2075688"/>
            <a:ext cx="14630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1820"/>
                </a:solidFill>
                <a:latin typeface="Calibri"/>
              </a:rPr>
              <a:t>47.0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83480" y="2075688"/>
            <a:ext cx="13716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0" y="2075688"/>
            <a:ext cx="12801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1820"/>
                </a:solidFill>
                <a:latin typeface="Calibri"/>
              </a:rPr>
              <a:t>61.0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55080" y="2075688"/>
            <a:ext cx="128016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2075688"/>
            <a:ext cx="118872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B9E4B"/>
                </a:solidFill>
                <a:latin typeface="Calibri"/>
              </a:rPr>
              <a:t>+14.0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2404872"/>
            <a:ext cx="2926080" cy="329184"/>
          </a:xfrm>
          <a:prstGeom prst="rect">
            <a:avLst/>
          </a:prstGeom>
          <a:solidFill>
            <a:srgbClr val="F3F4F6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2404872"/>
            <a:ext cx="28346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1820"/>
                </a:solidFill>
                <a:latin typeface="Calibri"/>
              </a:rPr>
              <a:t>Lighting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29000" y="2404872"/>
            <a:ext cx="1554480" cy="329184"/>
          </a:xfrm>
          <a:prstGeom prst="rect">
            <a:avLst/>
          </a:prstGeom>
          <a:solidFill>
            <a:srgbClr val="F3F4F6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74720" y="2404872"/>
            <a:ext cx="14630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1820"/>
                </a:solidFill>
                <a:latin typeface="Calibri"/>
              </a:rPr>
              <a:t>75.0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83480" y="2404872"/>
            <a:ext cx="1371600" cy="329184"/>
          </a:xfrm>
          <a:prstGeom prst="rect">
            <a:avLst/>
          </a:prstGeom>
          <a:solidFill>
            <a:srgbClr val="F3F4F6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2404872"/>
            <a:ext cx="12801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1820"/>
                </a:solidFill>
                <a:latin typeface="Calibri"/>
              </a:rPr>
              <a:t>84.5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55080" y="2404872"/>
            <a:ext cx="1280160" cy="329184"/>
          </a:xfrm>
          <a:prstGeom prst="rect">
            <a:avLst/>
          </a:prstGeom>
          <a:solidFill>
            <a:srgbClr val="F3F4F6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2404872"/>
            <a:ext cx="118872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B9E4B"/>
                </a:solidFill>
                <a:latin typeface="Calibri"/>
              </a:rPr>
              <a:t>+9.5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2734056"/>
            <a:ext cx="29260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2734056"/>
            <a:ext cx="28346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1820"/>
                </a:solidFill>
                <a:latin typeface="Calibri"/>
              </a:rPr>
              <a:t>Viewpoint (moderate)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429000" y="2734056"/>
            <a:ext cx="15544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474720" y="2734056"/>
            <a:ext cx="14630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1820"/>
                </a:solidFill>
                <a:latin typeface="Calibri"/>
              </a:rPr>
              <a:t>11.0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983480" y="2734056"/>
            <a:ext cx="13716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0" y="2734056"/>
            <a:ext cx="12801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1820"/>
                </a:solidFill>
                <a:latin typeface="Calibri"/>
              </a:rPr>
              <a:t>20.5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55080" y="2734056"/>
            <a:ext cx="128016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0" y="2734056"/>
            <a:ext cx="118872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B9E4B"/>
                </a:solidFill>
                <a:latin typeface="Calibri"/>
              </a:rPr>
              <a:t>+9.5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3063240"/>
            <a:ext cx="2926080" cy="329184"/>
          </a:xfrm>
          <a:prstGeom prst="rect">
            <a:avLst/>
          </a:prstGeom>
          <a:solidFill>
            <a:srgbClr val="F3F4F6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8640" y="3063240"/>
            <a:ext cx="28346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1820"/>
                </a:solidFill>
                <a:latin typeface="Calibri"/>
              </a:rPr>
              <a:t>Texture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429000" y="3063240"/>
            <a:ext cx="1554480" cy="329184"/>
          </a:xfrm>
          <a:prstGeom prst="rect">
            <a:avLst/>
          </a:prstGeom>
          <a:solidFill>
            <a:srgbClr val="F3F4F6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474720" y="3063240"/>
            <a:ext cx="14630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1820"/>
                </a:solidFill>
                <a:latin typeface="Calibri"/>
              </a:rPr>
              <a:t>82.0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983480" y="3063240"/>
            <a:ext cx="1371600" cy="329184"/>
          </a:xfrm>
          <a:prstGeom prst="rect">
            <a:avLst/>
          </a:prstGeom>
          <a:solidFill>
            <a:srgbClr val="F3F4F6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029200" y="3063240"/>
            <a:ext cx="12801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1820"/>
                </a:solidFill>
                <a:latin typeface="Calibri"/>
              </a:rPr>
              <a:t>86.5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355080" y="3063240"/>
            <a:ext cx="1280160" cy="329184"/>
          </a:xfrm>
          <a:prstGeom prst="rect">
            <a:avLst/>
          </a:prstGeom>
          <a:solidFill>
            <a:srgbClr val="F3F4F6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0" y="3063240"/>
            <a:ext cx="118872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B9E4B"/>
                </a:solidFill>
                <a:latin typeface="Calibri"/>
              </a:rPr>
              <a:t>+4.5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3392424"/>
            <a:ext cx="29260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8640" y="3392424"/>
            <a:ext cx="28346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1820"/>
                </a:solidFill>
                <a:latin typeface="Calibri"/>
              </a:rPr>
              <a:t>Viewpoint (extreme)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429000" y="3392424"/>
            <a:ext cx="15544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474720" y="3392424"/>
            <a:ext cx="14630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1820"/>
                </a:solidFill>
                <a:latin typeface="Calibri"/>
              </a:rPr>
              <a:t>0.0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983480" y="3392424"/>
            <a:ext cx="13716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029200" y="3392424"/>
            <a:ext cx="12801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1820"/>
                </a:solidFill>
                <a:latin typeface="Calibri"/>
              </a:rPr>
              <a:t>1.0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355080" y="3392424"/>
            <a:ext cx="128016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0" y="3392424"/>
            <a:ext cx="118872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+1.0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02920" y="3721608"/>
            <a:ext cx="2926080" cy="329184"/>
          </a:xfrm>
          <a:prstGeom prst="rect">
            <a:avLst/>
          </a:prstGeom>
          <a:solidFill>
            <a:srgbClr val="F3F4F6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8640" y="3721608"/>
            <a:ext cx="28346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51820"/>
                </a:solidFill>
                <a:latin typeface="Calibri"/>
              </a:rPr>
              <a:t>Mean (all 6)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429000" y="3721608"/>
            <a:ext cx="1554480" cy="329184"/>
          </a:xfrm>
          <a:prstGeom prst="rect">
            <a:avLst/>
          </a:prstGeom>
          <a:solidFill>
            <a:srgbClr val="F3F4F6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474720" y="3721608"/>
            <a:ext cx="14630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51820"/>
                </a:solidFill>
                <a:latin typeface="Calibri"/>
              </a:rPr>
              <a:t>36.5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983480" y="3721608"/>
            <a:ext cx="1371600" cy="329184"/>
          </a:xfrm>
          <a:prstGeom prst="rect">
            <a:avLst/>
          </a:prstGeom>
          <a:solidFill>
            <a:srgbClr val="F3F4F6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029200" y="3721608"/>
            <a:ext cx="12801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B9E4B"/>
                </a:solidFill>
                <a:latin typeface="Calibri"/>
              </a:rPr>
              <a:t>50.6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355080" y="3721608"/>
            <a:ext cx="1280160" cy="329184"/>
          </a:xfrm>
          <a:prstGeom prst="rect">
            <a:avLst/>
          </a:prstGeom>
          <a:solidFill>
            <a:srgbClr val="F3F4F6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00800" y="3721608"/>
            <a:ext cx="118872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B9E4B"/>
                </a:solidFill>
                <a:latin typeface="Calibri"/>
              </a:rPr>
              <a:t>+14.1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589520" y="1371600"/>
            <a:ext cx="4114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1820"/>
                </a:solidFill>
                <a:latin typeface="Calibri"/>
              </a:rPr>
              <a:t>Gaussian-noise degradation sweep: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589520" y="1691640"/>
            <a:ext cx="914400" cy="292608"/>
          </a:xfrm>
          <a:prstGeom prst="rect">
            <a:avLst/>
          </a:prstGeom>
          <a:solidFill>
            <a:srgbClr val="1F2A44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635240" y="1691640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σ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503920" y="1691640"/>
            <a:ext cx="1188720" cy="292608"/>
          </a:xfrm>
          <a:prstGeom prst="rect">
            <a:avLst/>
          </a:prstGeom>
          <a:solidFill>
            <a:srgbClr val="1F2A44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549640" y="1691640"/>
            <a:ext cx="10972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base+TE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692640" y="1691640"/>
            <a:ext cx="1097280" cy="292608"/>
          </a:xfrm>
          <a:prstGeom prst="rect">
            <a:avLst/>
          </a:prstGeom>
          <a:solidFill>
            <a:srgbClr val="1F2A44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738360" y="1691640"/>
            <a:ext cx="100584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AEGIS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789920" y="1691640"/>
            <a:ext cx="914400" cy="292608"/>
          </a:xfrm>
          <a:prstGeom prst="rect">
            <a:avLst/>
          </a:prstGeom>
          <a:solidFill>
            <a:srgbClr val="1F2A44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835640" y="1691640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Δ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589520" y="1984248"/>
            <a:ext cx="914400" cy="292608"/>
          </a:xfrm>
          <a:prstGeom prst="rect">
            <a:avLst/>
          </a:prstGeom>
          <a:solidFill>
            <a:srgbClr val="F3F4F6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635240" y="1984248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1820"/>
                </a:solidFill>
                <a:latin typeface="Calibri"/>
              </a:rPr>
              <a:t>0.05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503920" y="1984248"/>
            <a:ext cx="1188720" cy="292608"/>
          </a:xfrm>
          <a:prstGeom prst="rect">
            <a:avLst/>
          </a:prstGeom>
          <a:solidFill>
            <a:srgbClr val="F3F4F6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549640" y="1984248"/>
            <a:ext cx="10972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1820"/>
                </a:solidFill>
                <a:latin typeface="Calibri"/>
              </a:rPr>
              <a:t>66.0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692640" y="1984248"/>
            <a:ext cx="1097280" cy="292608"/>
          </a:xfrm>
          <a:prstGeom prst="rect">
            <a:avLst/>
          </a:prstGeom>
          <a:solidFill>
            <a:srgbClr val="F3F4F6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738360" y="1984248"/>
            <a:ext cx="100584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1820"/>
                </a:solidFill>
                <a:latin typeface="Calibri"/>
              </a:rPr>
              <a:t>75.0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789920" y="1984248"/>
            <a:ext cx="914400" cy="292608"/>
          </a:xfrm>
          <a:prstGeom prst="rect">
            <a:avLst/>
          </a:prstGeom>
          <a:solidFill>
            <a:srgbClr val="F3F4F6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835640" y="1984248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9E4B"/>
                </a:solidFill>
                <a:latin typeface="Calibri"/>
              </a:rPr>
              <a:t>+9.0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589520" y="2276856"/>
            <a:ext cx="91440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635240" y="2276856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1820"/>
                </a:solidFill>
                <a:latin typeface="Calibri"/>
              </a:rPr>
              <a:t>0.12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503920" y="2276856"/>
            <a:ext cx="118872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549640" y="2276856"/>
            <a:ext cx="10972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1820"/>
                </a:solidFill>
                <a:latin typeface="Calibri"/>
              </a:rPr>
              <a:t>47.0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692640" y="2276856"/>
            <a:ext cx="109728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738360" y="2276856"/>
            <a:ext cx="100584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1820"/>
                </a:solidFill>
                <a:latin typeface="Calibri"/>
              </a:rPr>
              <a:t>61.0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789920" y="2276856"/>
            <a:ext cx="91440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835640" y="2276856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9E4B"/>
                </a:solidFill>
                <a:latin typeface="Calibri"/>
              </a:rPr>
              <a:t>+14.0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589520" y="2569464"/>
            <a:ext cx="914400" cy="292608"/>
          </a:xfrm>
          <a:prstGeom prst="rect">
            <a:avLst/>
          </a:prstGeom>
          <a:solidFill>
            <a:srgbClr val="F3F4F6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635240" y="2569464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1820"/>
                </a:solidFill>
                <a:latin typeface="Calibri"/>
              </a:rPr>
              <a:t>0.20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503920" y="2569464"/>
            <a:ext cx="1188720" cy="292608"/>
          </a:xfrm>
          <a:prstGeom prst="rect">
            <a:avLst/>
          </a:prstGeom>
          <a:solidFill>
            <a:srgbClr val="F3F4F6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549640" y="2569464"/>
            <a:ext cx="10972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1820"/>
                </a:solidFill>
                <a:latin typeface="Calibri"/>
              </a:rPr>
              <a:t>22.0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692640" y="2569464"/>
            <a:ext cx="1097280" cy="292608"/>
          </a:xfrm>
          <a:prstGeom prst="rect">
            <a:avLst/>
          </a:prstGeom>
          <a:solidFill>
            <a:srgbClr val="F3F4F6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738360" y="2569464"/>
            <a:ext cx="100584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1820"/>
                </a:solidFill>
                <a:latin typeface="Calibri"/>
              </a:rPr>
              <a:t>45.0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789920" y="2569464"/>
            <a:ext cx="914400" cy="292608"/>
          </a:xfrm>
          <a:prstGeom prst="rect">
            <a:avLst/>
          </a:prstGeom>
          <a:solidFill>
            <a:srgbClr val="F3F4F6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835640" y="2569464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9E4B"/>
                </a:solidFill>
                <a:latin typeface="Calibri"/>
              </a:rPr>
              <a:t>+23.0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89520" y="2862072"/>
            <a:ext cx="91440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635240" y="2862072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1820"/>
                </a:solidFill>
                <a:latin typeface="Calibri"/>
              </a:rPr>
              <a:t>0.30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503920" y="2862072"/>
            <a:ext cx="118872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549640" y="2862072"/>
            <a:ext cx="10972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C0392B"/>
                </a:solidFill>
                <a:latin typeface="Calibri"/>
              </a:rPr>
              <a:t>0.0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9692640" y="2862072"/>
            <a:ext cx="109728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9738360" y="2862072"/>
            <a:ext cx="100584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9E4B"/>
                </a:solidFill>
                <a:latin typeface="Calibri"/>
              </a:rPr>
              <a:t>24.5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0789920" y="2862072"/>
            <a:ext cx="91440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0835640" y="2862072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9E4B"/>
                </a:solidFill>
                <a:latin typeface="Calibri"/>
              </a:rPr>
              <a:t>+24.5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589520" y="3154680"/>
            <a:ext cx="914400" cy="292608"/>
          </a:xfrm>
          <a:prstGeom prst="rect">
            <a:avLst/>
          </a:prstGeom>
          <a:solidFill>
            <a:srgbClr val="F3F4F6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7635240" y="3154680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1820"/>
                </a:solidFill>
                <a:latin typeface="Calibri"/>
              </a:rPr>
              <a:t>0.50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503920" y="3154680"/>
            <a:ext cx="1188720" cy="292608"/>
          </a:xfrm>
          <a:prstGeom prst="rect">
            <a:avLst/>
          </a:prstGeom>
          <a:solidFill>
            <a:srgbClr val="F3F4F6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549640" y="3154680"/>
            <a:ext cx="10972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1820"/>
                </a:solidFill>
                <a:latin typeface="Calibri"/>
              </a:rPr>
              <a:t>0.0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692640" y="3154680"/>
            <a:ext cx="1097280" cy="292608"/>
          </a:xfrm>
          <a:prstGeom prst="rect">
            <a:avLst/>
          </a:prstGeom>
          <a:solidFill>
            <a:srgbClr val="F3F4F6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738360" y="3154680"/>
            <a:ext cx="100584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1820"/>
                </a:solidFill>
                <a:latin typeface="Calibri"/>
              </a:rPr>
              <a:t>7.5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0789920" y="3154680"/>
            <a:ext cx="914400" cy="292608"/>
          </a:xfrm>
          <a:prstGeom prst="rect">
            <a:avLst/>
          </a:prstGeom>
          <a:solidFill>
            <a:srgbClr val="F3F4F6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0835640" y="3154680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9E4B"/>
                </a:solidFill>
                <a:latin typeface="Calibri"/>
              </a:rPr>
              <a:t>+7.5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589520" y="3447288"/>
            <a:ext cx="91440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635240" y="3447288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1820"/>
                </a:solidFill>
                <a:latin typeface="Calibri"/>
              </a:rPr>
              <a:t>1.00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503920" y="3447288"/>
            <a:ext cx="118872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549640" y="3447288"/>
            <a:ext cx="10972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1820"/>
                </a:solidFill>
                <a:latin typeface="Calibri"/>
              </a:rPr>
              <a:t>0.0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9692640" y="3447288"/>
            <a:ext cx="109728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738360" y="3447288"/>
            <a:ext cx="100584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1820"/>
                </a:solidFill>
                <a:latin typeface="Calibri"/>
              </a:rPr>
              <a:t>9.5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0789920" y="3447288"/>
            <a:ext cx="91440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0835640" y="3447288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9E4B"/>
                </a:solidFill>
                <a:latin typeface="Calibri"/>
              </a:rPr>
              <a:t>+9.5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7589520" y="3840480"/>
            <a:ext cx="4114800" cy="2194560"/>
          </a:xfrm>
          <a:prstGeom prst="rect">
            <a:avLst/>
          </a:prstGeom>
          <a:solidFill>
            <a:srgbClr val="F3F4F6"/>
          </a:solidFill>
          <a:ln w="1270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7589520" y="3840480"/>
            <a:ext cx="4114800" cy="310896"/>
          </a:xfrm>
          <a:prstGeom prst="rect">
            <a:avLst/>
          </a:prstGeom>
          <a:solidFill>
            <a:srgbClr val="1B9E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7699248" y="3858768"/>
            <a:ext cx="389534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GRACEFUL-DEGRADATION SIGNATURE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717536" y="4224528"/>
            <a:ext cx="3858768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51820"/>
                </a:solidFill>
                <a:latin typeface="Calibri"/>
              </a:rPr>
              <a:t>Δ peaks at +24.5 at σ=0.30 — base+TE completely DEAD (0/200), AEGIS still completes 24.5%.
Base flatlines at 0% for every σ≥0.30; AEGIS keeps operating. The advantage widens through the moderate-noise regime exactly as a robustness layer should.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02920" y="4572000"/>
            <a:ext cx="67665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0392B"/>
                </a:solidFill>
                <a:latin typeface="Calibri"/>
              </a:rPr>
              <a:t>Standout — motion blur: </a:t>
            </a:r>
            <a:r>
              <a:rPr sz="1200" b="0">
                <a:solidFill>
                  <a:srgbClr val="151820"/>
                </a:solidFill>
                <a:latin typeface="Calibri"/>
              </a:rPr>
              <a:t>base essentially cannot operate (4%); AEGIS retains 50% (+46 pp).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51820"/>
                </a:solidFill>
                <a:latin typeface="Calibri"/>
              </a:rPr>
              <a:t>Wilson-95: </a:t>
            </a:r>
            <a:r>
              <a:rPr sz="1200" b="0">
                <a:solidFill>
                  <a:srgbClr val="151820"/>
                </a:solidFill>
                <a:latin typeface="Calibri"/>
              </a:rPr>
              <a:t>blur, lighting, noise, viewpoint-moderate are CI-separated wins; texture modest; viewpoint-extreme is the shared 'both-fail' degradation floor.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51820"/>
                </a:solidFill>
                <a:latin typeface="Calibri"/>
              </a:rPr>
              <a:t>Object-offset BC probe (n=100): </a:t>
            </a:r>
            <a:r>
              <a:rPr sz="1200" b="0">
                <a:solidFill>
                  <a:srgbClr val="151820"/>
                </a:solidFill>
                <a:latin typeface="Calibri"/>
              </a:rPr>
              <a:t>3cm 72→78, 5cm 51→57 — graceful, +6.0 held → perception-conditioned, not replay.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AEGIS = SmolVLA(frozen) + RIB + RASF + TE   ·   ISLab · CWNU ·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1155680" y="6510528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6B728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33271"/>
            <a:ext cx="12191695" cy="31750"/>
          </a:xfrm>
          <a:prstGeom prst="rect">
            <a:avLst/>
          </a:prstGeom>
          <a:solidFill>
            <a:srgbClr val="1F5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5FD0"/>
                </a:solidFill>
                <a:latin typeface="Calibri"/>
              </a:rPr>
              <a:t>05 · ROBUSTNESS ROLL-OUTS (1/2) — SENSOR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02336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51820"/>
                </a:solidFill>
                <a:latin typeface="Calibri"/>
              </a:rPr>
              <a:t>Sensor Axes — Blur · Noise · Lighting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41248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Same task &amp; init-state per pair; verified per-episode outcomes. Press play.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371600"/>
            <a:ext cx="374903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51820"/>
                </a:solidFill>
                <a:latin typeface="Calibri"/>
              </a:rPr>
              <a:t>Motion blur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645920"/>
            <a:ext cx="1828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C0392B"/>
                </a:solidFill>
                <a:latin typeface="Calibri"/>
              </a:rPr>
              <a:t>SmolVLA+TE 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0280" y="1645920"/>
            <a:ext cx="1828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9E4B"/>
                </a:solidFill>
                <a:latin typeface="Calibri"/>
              </a:rPr>
              <a:t>AEGIS ✓</a:t>
            </a:r>
          </a:p>
        </p:txBody>
      </p:sp>
      <p:pic>
        <p:nvPicPr>
          <p:cNvPr id="10" name="ep000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320040" y="1920240"/>
            <a:ext cx="1828800" cy="3017520"/>
          </a:xfrm>
          <a:prstGeom prst="rect">
            <a:avLst/>
          </a:prstGeom>
        </p:spPr>
      </p:pic>
      <p:pic>
        <p:nvPicPr>
          <p:cNvPr id="11" name="ep000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2240280" y="1920240"/>
            <a:ext cx="1828800" cy="301752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320040" y="1920240"/>
            <a:ext cx="1828800" cy="3017520"/>
          </a:xfrm>
          <a:prstGeom prst="rect">
            <a:avLst/>
          </a:prstGeom>
          <a:noFill/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40280" y="1920240"/>
            <a:ext cx="1828800" cy="3017520"/>
          </a:xfrm>
          <a:prstGeom prst="rect">
            <a:avLst/>
          </a:prstGeom>
          <a:noFill/>
          <a:ln w="19050">
            <a:solidFill>
              <a:srgbClr val="1B9E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60520" y="1371600"/>
            <a:ext cx="374903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51820"/>
                </a:solidFill>
                <a:latin typeface="Calibri"/>
              </a:rPr>
              <a:t>Gaussian noise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0520" y="1645920"/>
            <a:ext cx="1828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C0392B"/>
                </a:solidFill>
                <a:latin typeface="Calibri"/>
              </a:rPr>
              <a:t>SmolVLA+TE 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60" y="1645920"/>
            <a:ext cx="1828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9E4B"/>
                </a:solidFill>
                <a:latin typeface="Calibri"/>
              </a:rPr>
              <a:t>AEGIS ✓</a:t>
            </a:r>
          </a:p>
        </p:txBody>
      </p:sp>
      <p:pic>
        <p:nvPicPr>
          <p:cNvPr id="17" name="ep000.mp4">
            <a:hlinkClick r:id="" action="ppaction://media"/>
          </p:cNvPr>
          <p:cNvPicPr>
            <a:picLocks noChangeAspect="1"/>
          </p:cNvPicPr>
          <p:nvPr>
            <a:videoFile r:link="rId9"/>
            <p:extLst>
              <p:ext uri="{DAA4B4D4-6D71-4841-9C94-3DE7FCFB9230}">
                <p14:media xmlns:p14="http://schemas.microsoft.com/office/powerpoint/2010/main" r:embed="rId8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4160520" y="1920240"/>
            <a:ext cx="1828800" cy="3017520"/>
          </a:xfrm>
          <a:prstGeom prst="rect">
            <a:avLst/>
          </a:prstGeom>
        </p:spPr>
      </p:pic>
      <p:pic>
        <p:nvPicPr>
          <p:cNvPr id="18" name="ep001.mp4">
            <a:hlinkClick r:id="" action="ppaction://media"/>
          </p:cNvPr>
          <p:cNvPicPr>
            <a:picLocks noChangeAspect="1"/>
          </p:cNvPicPr>
          <p:nvPr>
            <a:videoFile r:link="rId12"/>
            <p:extLst>
              <p:ext uri="{DAA4B4D4-6D71-4841-9C94-3DE7FCFB9230}">
                <p14:media xmlns:p14="http://schemas.microsoft.com/office/powerpoint/2010/main" r:embed="rId11"/>
              </p:ext>
            </p:extLst>
          </p:nvPr>
        </p:nvPicPr>
        <p:blipFill>
          <a:blip r:embed="rId13"/>
          <a:stretch>
            <a:fillRect/>
          </a:stretch>
        </p:blipFill>
        <p:spPr>
          <a:xfrm>
            <a:off x="6080760" y="1920240"/>
            <a:ext cx="1828800" cy="301752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4160520" y="1920240"/>
            <a:ext cx="1828800" cy="3017520"/>
          </a:xfrm>
          <a:prstGeom prst="rect">
            <a:avLst/>
          </a:prstGeom>
          <a:noFill/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80760" y="1920240"/>
            <a:ext cx="1828800" cy="3017520"/>
          </a:xfrm>
          <a:prstGeom prst="rect">
            <a:avLst/>
          </a:prstGeom>
          <a:noFill/>
          <a:ln w="19050">
            <a:solidFill>
              <a:srgbClr val="1B9E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01000" y="1371600"/>
            <a:ext cx="374903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51820"/>
                </a:solidFill>
                <a:latin typeface="Calibri"/>
              </a:rPr>
              <a:t>Lighting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01000" y="1645920"/>
            <a:ext cx="1828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C0392B"/>
                </a:solidFill>
                <a:latin typeface="Calibri"/>
              </a:rPr>
              <a:t>SmolVLA+TE 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40" y="1645920"/>
            <a:ext cx="1828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9E4B"/>
                </a:solidFill>
                <a:latin typeface="Calibri"/>
              </a:rPr>
              <a:t>AEGIS ✓</a:t>
            </a:r>
          </a:p>
        </p:txBody>
      </p:sp>
      <p:pic>
        <p:nvPicPr>
          <p:cNvPr id="24" name="ep000.mp4">
            <a:hlinkClick r:id="" action="ppaction://media"/>
          </p:cNvPr>
          <p:cNvPicPr>
            <a:picLocks noChangeAspect="1"/>
          </p:cNvPicPr>
          <p:nvPr>
            <a:videoFile r:link="rId15"/>
            <p:extLst>
              <p:ext uri="{DAA4B4D4-6D71-4841-9C94-3DE7FCFB9230}">
                <p14:media xmlns:p14="http://schemas.microsoft.com/office/powerpoint/2010/main" r:embed="rId14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8001000" y="1920240"/>
            <a:ext cx="1828800" cy="3017520"/>
          </a:xfrm>
          <a:prstGeom prst="rect">
            <a:avLst/>
          </a:prstGeom>
        </p:spPr>
      </p:pic>
      <p:pic>
        <p:nvPicPr>
          <p:cNvPr id="25" name="ep001.mp4">
            <a:hlinkClick r:id="" action="ppaction://media"/>
          </p:cNvPr>
          <p:cNvPicPr>
            <a:picLocks noChangeAspect="1"/>
          </p:cNvPicPr>
          <p:nvPr>
            <a:videoFile r:link="rId18"/>
            <p:extLst>
              <p:ext uri="{DAA4B4D4-6D71-4841-9C94-3DE7FCFB9230}">
                <p14:media xmlns:p14="http://schemas.microsoft.com/office/powerpoint/2010/main" r:embed="rId17"/>
              </p:ext>
            </p:extLst>
          </p:nvPr>
        </p:nvPicPr>
        <p:blipFill>
          <a:blip r:embed="rId19"/>
          <a:stretch>
            <a:fillRect/>
          </a:stretch>
        </p:blipFill>
        <p:spPr>
          <a:xfrm>
            <a:off x="9921240" y="1920240"/>
            <a:ext cx="1828800" cy="301752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8001000" y="1920240"/>
            <a:ext cx="1828800" cy="3017520"/>
          </a:xfrm>
          <a:prstGeom prst="rect">
            <a:avLst/>
          </a:prstGeom>
          <a:noFill/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921240" y="1920240"/>
            <a:ext cx="1828800" cy="3017520"/>
          </a:xfrm>
          <a:prstGeom prst="rect">
            <a:avLst/>
          </a:prstGeom>
          <a:noFill/>
          <a:ln w="19050">
            <a:solidFill>
              <a:srgbClr val="1B9E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52120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51820"/>
                </a:solidFill>
                <a:latin typeface="Calibri"/>
              </a:rPr>
              <a:t>Sensor-degradation axes are RASF + TE territory: </a:t>
            </a:r>
            <a:r>
              <a:rPr sz="1200" b="0">
                <a:solidFill>
                  <a:srgbClr val="151820"/>
                </a:solidFill>
                <a:latin typeface="Calibri"/>
              </a:rPr>
              <a:t>blur 4→50 (+46), noise σ=0.12 47→61 (+14), lighting 75→84.5 (+9.5). The baseline drops the task; AEGIS completes it.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AEGIS = SmolVLA(frozen) + RIB + RASF + TE   ·   ISLab · CWNU ·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510528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6B728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1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17"/>
                </p:tgtEl>
              </p:cMediaNode>
            </p:video>
            <p:video>
              <p:cMediaNode vol="80000">
                <p:cTn id="5" fill="hold" display="0">
                  <p:stCondLst>
                    <p:cond delay="indefinite"/>
                  </p:stCondLst>
                </p:cTn>
                <p:tgtEl>
                  <p:spTgt spid="18"/>
                </p:tgtEl>
              </p:cMediaNode>
            </p:video>
            <p:video>
              <p:cMediaNode vol="80000">
                <p:cTn id="6" fill="hold" display="0">
                  <p:stCondLst>
                    <p:cond delay="indefinite"/>
                  </p:stCondLst>
                </p:cTn>
                <p:tgtEl>
                  <p:spTgt spid="24"/>
                </p:tgtEl>
              </p:cMediaNode>
            </p:video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5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33271"/>
            <a:ext cx="12191695" cy="31750"/>
          </a:xfrm>
          <a:prstGeom prst="rect">
            <a:avLst/>
          </a:prstGeom>
          <a:solidFill>
            <a:srgbClr val="1F5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5FD0"/>
                </a:solidFill>
                <a:latin typeface="Calibri"/>
              </a:rPr>
              <a:t>05 · ROBUSTNESS ROLL-OUTS (2/2) — SCENE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02336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51820"/>
                </a:solidFill>
                <a:latin typeface="Calibri"/>
              </a:rPr>
              <a:t>Scene Axes — Texture · Viewpoint · Object-shift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41248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Same task &amp; init-state per pair; verified per-episode outcomes. Press play.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371600"/>
            <a:ext cx="374903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51820"/>
                </a:solidFill>
                <a:latin typeface="Calibri"/>
              </a:rPr>
              <a:t>Texture swap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645920"/>
            <a:ext cx="1828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C0392B"/>
                </a:solidFill>
                <a:latin typeface="Calibri"/>
              </a:rPr>
              <a:t>SmolVLA+TE 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0280" y="1645920"/>
            <a:ext cx="1828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9E4B"/>
                </a:solidFill>
                <a:latin typeface="Calibri"/>
              </a:rPr>
              <a:t>AEGIS ✓</a:t>
            </a:r>
          </a:p>
        </p:txBody>
      </p:sp>
      <p:pic>
        <p:nvPicPr>
          <p:cNvPr id="10" name="ep001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320040" y="1920240"/>
            <a:ext cx="1828800" cy="3017520"/>
          </a:xfrm>
          <a:prstGeom prst="rect">
            <a:avLst/>
          </a:prstGeom>
        </p:spPr>
      </p:pic>
      <p:pic>
        <p:nvPicPr>
          <p:cNvPr id="11" name="ep000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2240280" y="1920240"/>
            <a:ext cx="1828800" cy="301752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320040" y="1920240"/>
            <a:ext cx="1828800" cy="3017520"/>
          </a:xfrm>
          <a:prstGeom prst="rect">
            <a:avLst/>
          </a:prstGeom>
          <a:noFill/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40280" y="1920240"/>
            <a:ext cx="1828800" cy="3017520"/>
          </a:xfrm>
          <a:prstGeom prst="rect">
            <a:avLst/>
          </a:prstGeom>
          <a:noFill/>
          <a:ln w="19050">
            <a:solidFill>
              <a:srgbClr val="1B9E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60520" y="1371600"/>
            <a:ext cx="374903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51820"/>
                </a:solidFill>
                <a:latin typeface="Calibri"/>
              </a:rPr>
              <a:t>Viewpoint (moderate)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0520" y="1645920"/>
            <a:ext cx="1828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C0392B"/>
                </a:solidFill>
                <a:latin typeface="Calibri"/>
              </a:rPr>
              <a:t>SmolVLA+TE 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60" y="1645920"/>
            <a:ext cx="1828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9E4B"/>
                </a:solidFill>
                <a:latin typeface="Calibri"/>
              </a:rPr>
              <a:t>AEGIS ✓</a:t>
            </a:r>
          </a:p>
        </p:txBody>
      </p:sp>
      <p:pic>
        <p:nvPicPr>
          <p:cNvPr id="17" name="ep000.mp4">
            <a:hlinkClick r:id="" action="ppaction://media"/>
          </p:cNvPr>
          <p:cNvPicPr>
            <a:picLocks noChangeAspect="1"/>
          </p:cNvPicPr>
          <p:nvPr>
            <a:videoFile r:link="rId9"/>
            <p:extLst>
              <p:ext uri="{DAA4B4D4-6D71-4841-9C94-3DE7FCFB9230}">
                <p14:media xmlns:p14="http://schemas.microsoft.com/office/powerpoint/2010/main" r:embed="rId8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4160520" y="1920240"/>
            <a:ext cx="1828800" cy="3017520"/>
          </a:xfrm>
          <a:prstGeom prst="rect">
            <a:avLst/>
          </a:prstGeom>
        </p:spPr>
      </p:pic>
      <p:pic>
        <p:nvPicPr>
          <p:cNvPr id="18" name="ep000.mp4">
            <a:hlinkClick r:id="" action="ppaction://media"/>
          </p:cNvPr>
          <p:cNvPicPr>
            <a:picLocks noChangeAspect="1"/>
          </p:cNvPicPr>
          <p:nvPr>
            <a:videoFile r:link="rId12"/>
            <p:extLst>
              <p:ext uri="{DAA4B4D4-6D71-4841-9C94-3DE7FCFB9230}">
                <p14:media xmlns:p14="http://schemas.microsoft.com/office/powerpoint/2010/main" r:embed="rId11"/>
              </p:ext>
            </p:extLst>
          </p:nvPr>
        </p:nvPicPr>
        <p:blipFill>
          <a:blip r:embed="rId13"/>
          <a:stretch>
            <a:fillRect/>
          </a:stretch>
        </p:blipFill>
        <p:spPr>
          <a:xfrm>
            <a:off x="6080760" y="1920240"/>
            <a:ext cx="1828800" cy="301752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4160520" y="1920240"/>
            <a:ext cx="1828800" cy="3017520"/>
          </a:xfrm>
          <a:prstGeom prst="rect">
            <a:avLst/>
          </a:prstGeom>
          <a:noFill/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80760" y="1920240"/>
            <a:ext cx="1828800" cy="3017520"/>
          </a:xfrm>
          <a:prstGeom prst="rect">
            <a:avLst/>
          </a:prstGeom>
          <a:noFill/>
          <a:ln w="19050">
            <a:solidFill>
              <a:srgbClr val="1B9E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01000" y="1371600"/>
            <a:ext cx="374903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51820"/>
                </a:solidFill>
                <a:latin typeface="Calibri"/>
              </a:rPr>
              <a:t>Object-offset 5 cm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01000" y="1645920"/>
            <a:ext cx="1828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C0392B"/>
                </a:solidFill>
                <a:latin typeface="Calibri"/>
              </a:rPr>
              <a:t>SmolVLA+TE 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40" y="1645920"/>
            <a:ext cx="1828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9E4B"/>
                </a:solidFill>
                <a:latin typeface="Calibri"/>
              </a:rPr>
              <a:t>AEGIS ✓</a:t>
            </a:r>
          </a:p>
        </p:txBody>
      </p:sp>
      <p:pic>
        <p:nvPicPr>
          <p:cNvPr id="24" name="ep000.mp4">
            <a:hlinkClick r:id="" action="ppaction://media"/>
          </p:cNvPr>
          <p:cNvPicPr>
            <a:picLocks noChangeAspect="1"/>
          </p:cNvPicPr>
          <p:nvPr>
            <a:videoFile r:link="rId15"/>
            <p:extLst>
              <p:ext uri="{DAA4B4D4-6D71-4841-9C94-3DE7FCFB9230}">
                <p14:media xmlns:p14="http://schemas.microsoft.com/office/powerpoint/2010/main" r:embed="rId14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8001000" y="1920240"/>
            <a:ext cx="1828800" cy="3017520"/>
          </a:xfrm>
          <a:prstGeom prst="rect">
            <a:avLst/>
          </a:prstGeom>
        </p:spPr>
      </p:pic>
      <p:pic>
        <p:nvPicPr>
          <p:cNvPr id="25" name="ep000.mp4">
            <a:hlinkClick r:id="" action="ppaction://media"/>
          </p:cNvPr>
          <p:cNvPicPr>
            <a:picLocks noChangeAspect="1"/>
          </p:cNvPicPr>
          <p:nvPr>
            <a:videoFile r:link="rId18"/>
            <p:extLst>
              <p:ext uri="{DAA4B4D4-6D71-4841-9C94-3DE7FCFB9230}">
                <p14:media xmlns:p14="http://schemas.microsoft.com/office/powerpoint/2010/main" r:embed="rId17"/>
              </p:ext>
            </p:extLst>
          </p:nvPr>
        </p:nvPicPr>
        <p:blipFill>
          <a:blip r:embed="rId19"/>
          <a:stretch>
            <a:fillRect/>
          </a:stretch>
        </p:blipFill>
        <p:spPr>
          <a:xfrm>
            <a:off x="9921240" y="1920240"/>
            <a:ext cx="1828800" cy="301752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8001000" y="1920240"/>
            <a:ext cx="1828800" cy="3017520"/>
          </a:xfrm>
          <a:prstGeom prst="rect">
            <a:avLst/>
          </a:prstGeom>
          <a:noFill/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921240" y="1920240"/>
            <a:ext cx="1828800" cy="3017520"/>
          </a:xfrm>
          <a:prstGeom prst="rect">
            <a:avLst/>
          </a:prstGeom>
          <a:noFill/>
          <a:ln w="19050">
            <a:solidFill>
              <a:srgbClr val="1B9E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52120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51820"/>
                </a:solidFill>
                <a:latin typeface="Calibri"/>
              </a:rPr>
              <a:t>Scene-shift axes are RIB territory: </a:t>
            </a:r>
            <a:r>
              <a:rPr sz="1200" b="0">
                <a:solidFill>
                  <a:srgbClr val="151820"/>
                </a:solidFill>
                <a:latin typeface="Calibri"/>
              </a:rPr>
              <a:t>texture 82→86.5, viewpoint-moderate 11→20.5 (+9.5), object-offset 5 cm 51→57 (+6.0). RIB localises the shift; the policy stays perception-conditioned rather than replaying a memorised trajectory.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AEGIS = SmolVLA(frozen) + RIB + RASF + TE   ·   ISLab · CWNU ·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510528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6B728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1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17"/>
                </p:tgtEl>
              </p:cMediaNode>
            </p:video>
            <p:video>
              <p:cMediaNode vol="80000">
                <p:cTn id="5" fill="hold" display="0">
                  <p:stCondLst>
                    <p:cond delay="indefinite"/>
                  </p:stCondLst>
                </p:cTn>
                <p:tgtEl>
                  <p:spTgt spid="18"/>
                </p:tgtEl>
              </p:cMediaNode>
            </p:video>
            <p:video>
              <p:cMediaNode vol="80000">
                <p:cTn id="6" fill="hold" display="0">
                  <p:stCondLst>
                    <p:cond delay="indefinite"/>
                  </p:stCondLst>
                </p:cTn>
                <p:tgtEl>
                  <p:spTgt spid="24"/>
                </p:tgtEl>
              </p:cMediaNode>
            </p:video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5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33271"/>
            <a:ext cx="12191695" cy="31750"/>
          </a:xfrm>
          <a:prstGeom prst="rect">
            <a:avLst/>
          </a:prstGeom>
          <a:solidFill>
            <a:srgbClr val="1F5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5FD0"/>
                </a:solidFill>
                <a:latin typeface="Calibri"/>
              </a:rPr>
              <a:t>06 ·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02336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51820"/>
                </a:solidFill>
                <a:latin typeface="Calibri"/>
              </a:rPr>
              <a:t>What We Have Done So Far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5532120" cy="960120"/>
          </a:xfrm>
          <a:prstGeom prst="rect">
            <a:avLst/>
          </a:prstGeom>
          <a:solidFill>
            <a:srgbClr val="F3F4F6"/>
          </a:solidFill>
          <a:ln w="1270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91440" cy="960120"/>
          </a:xfrm>
          <a:prstGeom prst="rect">
            <a:avLst/>
          </a:prstGeom>
          <a:solidFill>
            <a:srgbClr val="1B9E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399032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1820"/>
                </a:solidFill>
                <a:latin typeface="Calibri"/>
              </a:rPr>
              <a:t>✓  Dual-locus module, built &amp; verified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09928"/>
            <a:ext cx="5212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RIB (perception, ~2.27M VIB @ connector) + RASF (action, DCT residual) + TE, all pass-through at init on a frozen SmolVLA-500M.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325880"/>
            <a:ext cx="5532120" cy="960120"/>
          </a:xfrm>
          <a:prstGeom prst="rect">
            <a:avLst/>
          </a:prstGeom>
          <a:solidFill>
            <a:srgbClr val="F3F4F6"/>
          </a:solidFill>
          <a:ln w="1270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325880"/>
            <a:ext cx="91440" cy="960120"/>
          </a:xfrm>
          <a:prstGeom prst="rect">
            <a:avLst/>
          </a:prstGeom>
          <a:solidFill>
            <a:srgbClr val="1B9E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8" y="1399032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1820"/>
                </a:solidFill>
                <a:latin typeface="Calibri"/>
              </a:rPr>
              <a:t>✓  Clean SR locked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1709928"/>
            <a:ext cx="5212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4-suite n=200; per-suite gated average 85.25 vs base 83.5 (+1.75), AEGIS ≥ base on every suite; Spatial deployment 86.0→87.5.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404872"/>
            <a:ext cx="5532120" cy="960120"/>
          </a:xfrm>
          <a:prstGeom prst="rect">
            <a:avLst/>
          </a:prstGeom>
          <a:solidFill>
            <a:srgbClr val="F3F4F6"/>
          </a:solidFill>
          <a:ln w="1270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404872"/>
            <a:ext cx="91440" cy="960120"/>
          </a:xfrm>
          <a:prstGeom prst="rect">
            <a:avLst/>
          </a:prstGeom>
          <a:solidFill>
            <a:srgbClr val="1B9E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478024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1820"/>
                </a:solidFill>
                <a:latin typeface="Calibri"/>
              </a:rPr>
              <a:t>✓  Robustness headline locked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788920"/>
            <a:ext cx="5212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LIBERO-V, 6 corruption axes, n=200/axis: AEGIS wins all 6, mean +14.1, up to +46 on motion blur.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2404872"/>
            <a:ext cx="5532120" cy="960120"/>
          </a:xfrm>
          <a:prstGeom prst="rect">
            <a:avLst/>
          </a:prstGeom>
          <a:solidFill>
            <a:srgbClr val="F3F4F6"/>
          </a:solidFill>
          <a:ln w="1270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2404872"/>
            <a:ext cx="91440" cy="960120"/>
          </a:xfrm>
          <a:prstGeom prst="rect">
            <a:avLst/>
          </a:prstGeom>
          <a:solidFill>
            <a:srgbClr val="1B9E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64808" y="2478024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1820"/>
                </a:solidFill>
                <a:latin typeface="Calibri"/>
              </a:rPr>
              <a:t>✓  Graceful-degradation curve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4808" y="2788920"/>
            <a:ext cx="5212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Gaussian σ-sweep: Δ peaks +24.5 at σ=0.30 where base is dead (0%); base flatlines ≥0.30, AEGIS keeps operating.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483864"/>
            <a:ext cx="5532120" cy="960120"/>
          </a:xfrm>
          <a:prstGeom prst="rect">
            <a:avLst/>
          </a:prstGeom>
          <a:solidFill>
            <a:srgbClr val="F3F4F6"/>
          </a:solidFill>
          <a:ln w="1270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483864"/>
            <a:ext cx="91440" cy="960120"/>
          </a:xfrm>
          <a:prstGeom prst="rect">
            <a:avLst/>
          </a:prstGeom>
          <a:solidFill>
            <a:srgbClr val="1B9E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3557016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1820"/>
                </a:solidFill>
                <a:latin typeface="Calibri"/>
              </a:rPr>
              <a:t>✓  Behaviour-cloning probe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867912"/>
            <a:ext cx="5212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Object-offset 3/5 cm: graceful degradation + constant +6.0 → perception-conditioned, not memorised replay.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3483864"/>
            <a:ext cx="5532120" cy="960120"/>
          </a:xfrm>
          <a:prstGeom prst="rect">
            <a:avLst/>
          </a:prstGeom>
          <a:solidFill>
            <a:srgbClr val="F3F4F6"/>
          </a:solidFill>
          <a:ln w="1270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63640" y="3483864"/>
            <a:ext cx="91440" cy="960120"/>
          </a:xfrm>
          <a:prstGeom prst="rect">
            <a:avLst/>
          </a:prstGeom>
          <a:solidFill>
            <a:srgbClr val="1B9E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64808" y="3557016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1820"/>
                </a:solidFill>
                <a:latin typeface="Calibri"/>
              </a:rPr>
              <a:t>✓  Verified qualitative evidence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64808" y="3867912"/>
            <a:ext cx="5212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Side-by-side roll-outs across every axis with per-episode success flags (no cherry-picking).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562856"/>
            <a:ext cx="5532120" cy="960120"/>
          </a:xfrm>
          <a:prstGeom prst="rect">
            <a:avLst/>
          </a:prstGeom>
          <a:solidFill>
            <a:srgbClr val="F3F4F6"/>
          </a:solidFill>
          <a:ln w="1270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4562856"/>
            <a:ext cx="91440" cy="960120"/>
          </a:xfrm>
          <a:prstGeom prst="rect">
            <a:avLst/>
          </a:prstGeom>
          <a:solidFill>
            <a:srgbClr val="1B9E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4636008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1820"/>
                </a:solidFill>
                <a:latin typeface="Calibri"/>
              </a:rPr>
              <a:t>✓  Identity-residual guarantee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4946904"/>
            <a:ext cx="5212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Provable: module off ≡ base, exact same forward pass → clean SR cannot structurally degrade; gating is safe.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AEGIS = SmolVLA(frozen) + RIB + RASF + TE   ·   ISLab · CWNU ·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510528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6B728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33271"/>
            <a:ext cx="12191695" cy="31750"/>
          </a:xfrm>
          <a:prstGeom prst="rect">
            <a:avLst/>
          </a:prstGeom>
          <a:solidFill>
            <a:srgbClr val="1F5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5FD0"/>
                </a:solidFill>
                <a:latin typeface="Calibri"/>
              </a:rPr>
              <a:t>07 ·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02336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51820"/>
                </a:solidFill>
                <a:latin typeface="Calibri"/>
              </a:rPr>
              <a:t>What Needs to Be Done — Next Two Weeks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41248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To establish the robustness contribution as principled and general.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457200" cy="566928"/>
          </a:xfrm>
          <a:prstGeom prst="rect">
            <a:avLst/>
          </a:prstGeom>
          <a:solidFill>
            <a:srgbClr val="1F5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4572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1417320"/>
            <a:ext cx="10698480" cy="566928"/>
          </a:xfrm>
          <a:prstGeom prst="rect">
            <a:avLst/>
          </a:prstGeom>
          <a:solidFill>
            <a:srgbClr val="F3F4F6"/>
          </a:solidFill>
          <a:ln w="1270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1453896"/>
            <a:ext cx="10424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51820"/>
                </a:solidFill>
                <a:latin typeface="Calibri"/>
              </a:rPr>
              <a:t>Retrain RIB + RASF on all 4 suites  —  </a:t>
            </a:r>
            <a:r>
              <a:rPr sz="1100" b="0">
                <a:solidFill>
                  <a:srgbClr val="6B7280"/>
                </a:solidFill>
                <a:latin typeface="Calibri"/>
              </a:rPr>
              <a:t>Replace eval-only gating with a gate that learns to disengage automatically where modules don't help → principled, not hand-picked. Removes the Long/Object clean-SR losses.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093976"/>
            <a:ext cx="457200" cy="566928"/>
          </a:xfrm>
          <a:prstGeom prst="rect">
            <a:avLst/>
          </a:prstGeom>
          <a:solidFill>
            <a:srgbClr val="1F5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093976"/>
            <a:ext cx="4572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2093976"/>
            <a:ext cx="10698480" cy="566928"/>
          </a:xfrm>
          <a:prstGeom prst="rect">
            <a:avLst/>
          </a:prstGeom>
          <a:solidFill>
            <a:srgbClr val="F3F4F6"/>
          </a:solidFill>
          <a:ln w="1270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2130552"/>
            <a:ext cx="10424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51820"/>
                </a:solidFill>
                <a:latin typeface="Calibri"/>
              </a:rPr>
              <a:t>Cross-suite corrupted evaluation  —  </a:t>
            </a:r>
            <a:r>
              <a:rPr sz="1100" b="0">
                <a:solidFill>
                  <a:srgbClr val="6B7280"/>
                </a:solidFill>
                <a:latin typeface="Calibri"/>
              </a:rPr>
              <a:t>Run LIBERO-V corruptions on Object &amp; Goal (currently Spatial-only) to show robustness generalises beyond the modules' training distribution.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770632"/>
            <a:ext cx="457200" cy="566928"/>
          </a:xfrm>
          <a:prstGeom prst="rect">
            <a:avLst/>
          </a:prstGeom>
          <a:solidFill>
            <a:srgbClr val="1F5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770632"/>
            <a:ext cx="4572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05840" y="2770632"/>
            <a:ext cx="10698480" cy="566928"/>
          </a:xfrm>
          <a:prstGeom prst="rect">
            <a:avLst/>
          </a:prstGeom>
          <a:solidFill>
            <a:srgbClr val="F3F4F6"/>
          </a:solidFill>
          <a:ln w="1270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70432" y="2807208"/>
            <a:ext cx="10424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51820"/>
                </a:solidFill>
                <a:latin typeface="Calibri"/>
              </a:rPr>
              <a:t>Close the reproduction gap  —  </a:t>
            </a:r>
            <a:r>
              <a:rPr sz="1100" b="0">
                <a:solidFill>
                  <a:srgbClr val="6B7280"/>
                </a:solidFill>
                <a:latin typeface="Calibri"/>
              </a:rPr>
              <a:t>Both arms sit ~5–10 pp under paper clean SR (clearest on Spatial 80.5 vs 90). Pin down checkpoint/protocol so clean SR is paper-faithful.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447288"/>
            <a:ext cx="457200" cy="566928"/>
          </a:xfrm>
          <a:prstGeom prst="rect">
            <a:avLst/>
          </a:prstGeom>
          <a:solidFill>
            <a:srgbClr val="1F5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447288"/>
            <a:ext cx="4572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5840" y="3447288"/>
            <a:ext cx="10698480" cy="566928"/>
          </a:xfrm>
          <a:prstGeom prst="rect">
            <a:avLst/>
          </a:prstGeom>
          <a:solidFill>
            <a:srgbClr val="F3F4F6"/>
          </a:solidFill>
          <a:ln w="1270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70432" y="3483864"/>
            <a:ext cx="10424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51820"/>
                </a:solidFill>
                <a:latin typeface="Calibri"/>
              </a:rPr>
              <a:t>Ablations for attribution  —  </a:t>
            </a:r>
            <a:r>
              <a:rPr sz="1100" b="0">
                <a:solidFill>
                  <a:srgbClr val="6B7280"/>
                </a:solidFill>
                <a:latin typeface="Calibri"/>
              </a:rPr>
              <a:t>Per-locus isolation (RIB-only / RASF-only / TE-only) across axes so each axis's gain is attributed to the right mechanism.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123944"/>
            <a:ext cx="457200" cy="566928"/>
          </a:xfrm>
          <a:prstGeom prst="rect">
            <a:avLst/>
          </a:prstGeom>
          <a:solidFill>
            <a:srgbClr val="1F5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123944"/>
            <a:ext cx="4572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" y="4123944"/>
            <a:ext cx="10698480" cy="566928"/>
          </a:xfrm>
          <a:prstGeom prst="rect">
            <a:avLst/>
          </a:prstGeom>
          <a:solidFill>
            <a:srgbClr val="F3F4F6"/>
          </a:solidFill>
          <a:ln w="1270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70432" y="4160520"/>
            <a:ext cx="10424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51820"/>
                </a:solidFill>
                <a:latin typeface="Calibri"/>
              </a:rPr>
              <a:t>Statistical hardening  —  </a:t>
            </a:r>
            <a:r>
              <a:rPr sz="1100" b="0">
                <a:solidFill>
                  <a:srgbClr val="6B7280"/>
                </a:solidFill>
                <a:latin typeface="Calibri"/>
              </a:rPr>
              <a:t>Multi-seed runs + Wilson/bootstrap CIs on every headline cell; confirm CI-separation holds beyond the single seed (42).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800600"/>
            <a:ext cx="457200" cy="566928"/>
          </a:xfrm>
          <a:prstGeom prst="rect">
            <a:avLst/>
          </a:prstGeom>
          <a:solidFill>
            <a:srgbClr val="1F5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4800600"/>
            <a:ext cx="4572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5840" y="4800600"/>
            <a:ext cx="10698480" cy="566928"/>
          </a:xfrm>
          <a:prstGeom prst="rect">
            <a:avLst/>
          </a:prstGeom>
          <a:solidFill>
            <a:srgbClr val="F3F4F6"/>
          </a:solidFill>
          <a:ln w="1270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70432" y="4837176"/>
            <a:ext cx="10424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51820"/>
                </a:solidFill>
                <a:latin typeface="Calibri"/>
              </a:rPr>
              <a:t>Cross-architecture port  —  </a:t>
            </a:r>
            <a:r>
              <a:rPr sz="1100" b="0">
                <a:solidFill>
                  <a:srgbClr val="6B7280"/>
                </a:solidFill>
                <a:latin typeface="Calibri"/>
              </a:rPr>
              <a:t>Stand up the dual-locus recipe on a second VLA backbone (NanoVLA / GR00T N1.5) to show it is size- and backbone-agnostic.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477256"/>
            <a:ext cx="457200" cy="566928"/>
          </a:xfrm>
          <a:prstGeom prst="rect">
            <a:avLst/>
          </a:prstGeom>
          <a:solidFill>
            <a:srgbClr val="1F5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5477256"/>
            <a:ext cx="4572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5840" y="5477256"/>
            <a:ext cx="10698480" cy="566928"/>
          </a:xfrm>
          <a:prstGeom prst="rect">
            <a:avLst/>
          </a:prstGeom>
          <a:solidFill>
            <a:srgbClr val="F3F4F6"/>
          </a:solidFill>
          <a:ln w="12700">
            <a:solidFill>
              <a:srgbClr val="E0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70432" y="5513832"/>
            <a:ext cx="10424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51820"/>
                </a:solidFill>
                <a:latin typeface="Calibri"/>
              </a:rPr>
              <a:t>Supervisor checkpoint  —  </a:t>
            </a:r>
            <a:r>
              <a:rPr sz="1100" b="0">
                <a:solidFill>
                  <a:srgbClr val="6B7280"/>
                </a:solidFill>
                <a:latin typeface="Calibri"/>
              </a:rPr>
              <a:t>Review the consolidated architecture + results with the supervisor; fold feedback into the gating-retrain and cross-suite plan.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AEGIS = SmolVLA(frozen) + RIB + RASF + TE   ·   ISLab · CWNU ·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55680" y="6510528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6B728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